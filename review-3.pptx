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3" r:id="rId8"/>
    <p:sldId id="264" r:id="rId9"/>
    <p:sldId id="265" r:id="rId10"/>
    <p:sldId id="272" r:id="rId11"/>
    <p:sldId id="271" r:id="rId12"/>
    <p:sldId id="275" r:id="rId13"/>
    <p:sldId id="274" r:id="rId14"/>
    <p:sldId id="270"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858FE7-063A-4DBD-B20A-D27D511E665A}" v="16" dt="2026-04-20T12:05:45.7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46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vuri nizam" userId="a610bd2f6c0a5cf4" providerId="LiveId" clId="{AD7561CC-E29F-482C-8B2D-63DF8561265E}"/>
    <pc:docChg chg="custSel addSld delSld modSld sldOrd">
      <pc:chgData name="kovuri nizam" userId="a610bd2f6c0a5cf4" providerId="LiveId" clId="{AD7561CC-E29F-482C-8B2D-63DF8561265E}" dt="2026-04-20T12:29:38.926" v="97" actId="2696"/>
      <pc:docMkLst>
        <pc:docMk/>
      </pc:docMkLst>
      <pc:sldChg chg="modSp mod">
        <pc:chgData name="kovuri nizam" userId="a610bd2f6c0a5cf4" providerId="LiveId" clId="{AD7561CC-E29F-482C-8B2D-63DF8561265E}" dt="2026-04-20T12:07:00.042" v="95" actId="20577"/>
        <pc:sldMkLst>
          <pc:docMk/>
          <pc:sldMk cId="0" sldId="256"/>
        </pc:sldMkLst>
        <pc:spChg chg="mod">
          <ac:chgData name="kovuri nizam" userId="a610bd2f6c0a5cf4" providerId="LiveId" clId="{AD7561CC-E29F-482C-8B2D-63DF8561265E}" dt="2026-04-20T12:07:00.042" v="95" actId="20577"/>
          <ac:spMkLst>
            <pc:docMk/>
            <pc:sldMk cId="0" sldId="256"/>
            <ac:spMk id="6" creationId="{00000000-0000-0000-0000-000000000000}"/>
          </ac:spMkLst>
        </pc:spChg>
      </pc:sldChg>
      <pc:sldChg chg="modSp ord">
        <pc:chgData name="kovuri nizam" userId="a610bd2f6c0a5cf4" providerId="LiveId" clId="{AD7561CC-E29F-482C-8B2D-63DF8561265E}" dt="2026-04-20T11:59:08.463" v="3"/>
        <pc:sldMkLst>
          <pc:docMk/>
          <pc:sldMk cId="3036710442" sldId="273"/>
        </pc:sldMkLst>
        <pc:spChg chg="mod">
          <ac:chgData name="kovuri nizam" userId="a610bd2f6c0a5cf4" providerId="LiveId" clId="{AD7561CC-E29F-482C-8B2D-63DF8561265E}" dt="2026-04-20T11:58:11.254" v="0"/>
          <ac:spMkLst>
            <pc:docMk/>
            <pc:sldMk cId="3036710442" sldId="273"/>
            <ac:spMk id="2" creationId="{4BE9938D-563F-9673-220B-0D9DBCCF5EF0}"/>
          </ac:spMkLst>
        </pc:spChg>
      </pc:sldChg>
      <pc:sldChg chg="modSp ord">
        <pc:chgData name="kovuri nizam" userId="a610bd2f6c0a5cf4" providerId="LiveId" clId="{AD7561CC-E29F-482C-8B2D-63DF8561265E}" dt="2026-04-20T11:59:10.818" v="5"/>
        <pc:sldMkLst>
          <pc:docMk/>
          <pc:sldMk cId="3505626533" sldId="274"/>
        </pc:sldMkLst>
        <pc:spChg chg="mod">
          <ac:chgData name="kovuri nizam" userId="a610bd2f6c0a5cf4" providerId="LiveId" clId="{AD7561CC-E29F-482C-8B2D-63DF8561265E}" dt="2026-04-20T11:58:17.268" v="1"/>
          <ac:spMkLst>
            <pc:docMk/>
            <pc:sldMk cId="3505626533" sldId="274"/>
            <ac:spMk id="2" creationId="{3F7F0980-E34B-6230-FAFE-98DC27B6714E}"/>
          </ac:spMkLst>
        </pc:spChg>
      </pc:sldChg>
      <pc:sldChg chg="addSp delSp modSp add del mod ord">
        <pc:chgData name="kovuri nizam" userId="a610bd2f6c0a5cf4" providerId="LiveId" clId="{AD7561CC-E29F-482C-8B2D-63DF8561265E}" dt="2026-04-20T12:29:35.065" v="96" actId="2696"/>
        <pc:sldMkLst>
          <pc:docMk/>
          <pc:sldMk cId="200229679" sldId="275"/>
        </pc:sldMkLst>
        <pc:spChg chg="mod">
          <ac:chgData name="kovuri nizam" userId="a610bd2f6c0a5cf4" providerId="LiveId" clId="{AD7561CC-E29F-482C-8B2D-63DF8561265E}" dt="2026-04-20T12:01:05.641" v="18" actId="20577"/>
          <ac:spMkLst>
            <pc:docMk/>
            <pc:sldMk cId="200229679" sldId="275"/>
            <ac:spMk id="2" creationId="{845BA5B7-E01B-E4B6-6D0B-FF421995154D}"/>
          </ac:spMkLst>
        </pc:spChg>
        <pc:picChg chg="del">
          <ac:chgData name="kovuri nizam" userId="a610bd2f6c0a5cf4" providerId="LiveId" clId="{AD7561CC-E29F-482C-8B2D-63DF8561265E}" dt="2026-04-20T11:59:57.305" v="9" actId="21"/>
          <ac:picMkLst>
            <pc:docMk/>
            <pc:sldMk cId="200229679" sldId="275"/>
            <ac:picMk id="4" creationId="{543F889B-086A-B234-F4DC-DF69B405F744}"/>
          </ac:picMkLst>
        </pc:picChg>
        <pc:picChg chg="add del mod">
          <ac:chgData name="kovuri nizam" userId="a610bd2f6c0a5cf4" providerId="LiveId" clId="{AD7561CC-E29F-482C-8B2D-63DF8561265E}" dt="2026-04-20T12:00:22.940" v="12" actId="21"/>
          <ac:picMkLst>
            <pc:docMk/>
            <pc:sldMk cId="200229679" sldId="275"/>
            <ac:picMk id="5" creationId="{AD0B4F95-0C56-CCEC-9511-EC6F45D6B644}"/>
          </ac:picMkLst>
        </pc:picChg>
        <pc:picChg chg="add mod">
          <ac:chgData name="kovuri nizam" userId="a610bd2f6c0a5cf4" providerId="LiveId" clId="{AD7561CC-E29F-482C-8B2D-63DF8561265E}" dt="2026-04-20T12:00:41.371" v="16" actId="14100"/>
          <ac:picMkLst>
            <pc:docMk/>
            <pc:sldMk cId="200229679" sldId="275"/>
            <ac:picMk id="6" creationId="{9B320800-575C-7897-9932-8949B32E1D0B}"/>
          </ac:picMkLst>
        </pc:picChg>
      </pc:sldChg>
      <pc:sldChg chg="addSp delSp modSp add del mod">
        <pc:chgData name="kovuri nizam" userId="a610bd2f6c0a5cf4" providerId="LiveId" clId="{AD7561CC-E29F-482C-8B2D-63DF8561265E}" dt="2026-04-20T12:29:38.926" v="97" actId="2696"/>
        <pc:sldMkLst>
          <pc:docMk/>
          <pc:sldMk cId="353308626" sldId="276"/>
        </pc:sldMkLst>
        <pc:spChg chg="del mod">
          <ac:chgData name="kovuri nizam" userId="a610bd2f6c0a5cf4" providerId="LiveId" clId="{AD7561CC-E29F-482C-8B2D-63DF8561265E}" dt="2026-04-20T12:04:56.231" v="47"/>
          <ac:spMkLst>
            <pc:docMk/>
            <pc:sldMk cId="353308626" sldId="276"/>
            <ac:spMk id="3" creationId="{9F02DCCA-B0E2-EFFF-9B2D-2C22BD9FF931}"/>
          </ac:spMkLst>
        </pc:spChg>
        <pc:spChg chg="add del mod">
          <ac:chgData name="kovuri nizam" userId="a610bd2f6c0a5cf4" providerId="LiveId" clId="{AD7561CC-E29F-482C-8B2D-63DF8561265E}" dt="2026-04-20T12:03:52.726" v="40"/>
          <ac:spMkLst>
            <pc:docMk/>
            <pc:sldMk cId="353308626" sldId="276"/>
            <ac:spMk id="5" creationId="{3077E4EB-D227-E3EA-075E-73E9ECB02646}"/>
          </ac:spMkLst>
        </pc:spChg>
        <pc:spChg chg="add">
          <ac:chgData name="kovuri nizam" userId="a610bd2f6c0a5cf4" providerId="LiveId" clId="{AD7561CC-E29F-482C-8B2D-63DF8561265E}" dt="2026-04-20T12:04:39.865" v="45"/>
          <ac:spMkLst>
            <pc:docMk/>
            <pc:sldMk cId="353308626" sldId="276"/>
            <ac:spMk id="7" creationId="{777D349B-A71F-C9E4-7185-D31FA0D303B0}"/>
          </ac:spMkLst>
        </pc:spChg>
        <pc:spChg chg="add mod">
          <ac:chgData name="kovuri nizam" userId="a610bd2f6c0a5cf4" providerId="LiveId" clId="{AD7561CC-E29F-482C-8B2D-63DF8561265E}" dt="2026-04-20T12:05:45.720" v="93" actId="1076"/>
          <ac:spMkLst>
            <pc:docMk/>
            <pc:sldMk cId="353308626" sldId="276"/>
            <ac:spMk id="8" creationId="{3EB25952-4C0B-D0BA-C547-5A236E40E3E8}"/>
          </ac:spMkLst>
        </pc:spChg>
        <pc:picChg chg="add del mod">
          <ac:chgData name="kovuri nizam" userId="a610bd2f6c0a5cf4" providerId="LiveId" clId="{AD7561CC-E29F-482C-8B2D-63DF8561265E}" dt="2026-04-20T12:02:38.289" v="22" actId="478"/>
          <ac:picMkLst>
            <pc:docMk/>
            <pc:sldMk cId="353308626" sldId="276"/>
            <ac:picMk id="4" creationId="{6DB416D8-79CF-86DB-9C32-7262F07BBFCD}"/>
          </ac:picMkLst>
        </pc:picChg>
        <pc:picChg chg="del">
          <ac:chgData name="kovuri nizam" userId="a610bd2f6c0a5cf4" providerId="LiveId" clId="{AD7561CC-E29F-482C-8B2D-63DF8561265E}" dt="2026-04-20T12:02:26.326" v="20" actId="21"/>
          <ac:picMkLst>
            <pc:docMk/>
            <pc:sldMk cId="353308626" sldId="276"/>
            <ac:picMk id="6" creationId="{6DB416D8-79CF-86DB-9C32-7262F07BBFC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16365D"/>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6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6365D"/>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6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2800"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90844"/>
            <a:ext cx="12192000" cy="867156"/>
          </a:xfrm>
          <a:prstGeom prst="rect">
            <a:avLst/>
          </a:prstGeom>
        </p:spPr>
      </p:pic>
      <p:sp>
        <p:nvSpPr>
          <p:cNvPr id="2" name="Holder 2"/>
          <p:cNvSpPr>
            <a:spLocks noGrp="1"/>
          </p:cNvSpPr>
          <p:nvPr>
            <p:ph type="title"/>
          </p:nvPr>
        </p:nvSpPr>
        <p:spPr>
          <a:xfrm>
            <a:off x="890905" y="280987"/>
            <a:ext cx="8478520" cy="480059"/>
          </a:xfrm>
          <a:prstGeom prst="rect">
            <a:avLst/>
          </a:prstGeom>
        </p:spPr>
        <p:txBody>
          <a:bodyPr wrap="square" lIns="0" tIns="0" rIns="0" bIns="0">
            <a:spAutoFit/>
          </a:bodyPr>
          <a:lstStyle>
            <a:lvl1pPr>
              <a:defRPr sz="2800" b="1" i="0">
                <a:solidFill>
                  <a:srgbClr val="16365D"/>
                </a:solidFill>
                <a:latin typeface="Cambria"/>
                <a:cs typeface="Cambria"/>
              </a:defRPr>
            </a:lvl1pPr>
          </a:lstStyle>
          <a:p>
            <a:endParaRPr/>
          </a:p>
        </p:txBody>
      </p:sp>
      <p:sp>
        <p:nvSpPr>
          <p:cNvPr id="3" name="Holder 3"/>
          <p:cNvSpPr>
            <a:spLocks noGrp="1"/>
          </p:cNvSpPr>
          <p:nvPr>
            <p:ph type="body" idx="1"/>
          </p:nvPr>
        </p:nvSpPr>
        <p:spPr>
          <a:xfrm>
            <a:off x="1043305" y="1169669"/>
            <a:ext cx="10359390" cy="4657725"/>
          </a:xfrm>
          <a:prstGeom prst="rect">
            <a:avLst/>
          </a:prstGeom>
        </p:spPr>
        <p:txBody>
          <a:bodyPr wrap="square" lIns="0" tIns="0" rIns="0" bIns="0">
            <a:spAutoFit/>
          </a:bodyPr>
          <a:lstStyle>
            <a:lvl1pPr>
              <a:defRPr sz="16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8578" y="1344688"/>
            <a:ext cx="8544560" cy="1318310"/>
          </a:xfrm>
          <a:prstGeom prst="rect">
            <a:avLst/>
          </a:prstGeom>
        </p:spPr>
        <p:txBody>
          <a:bodyPr vert="horz" wrap="square" lIns="0" tIns="12700" rIns="0" bIns="0" rtlCol="0">
            <a:spAutoFit/>
          </a:bodyPr>
          <a:lstStyle/>
          <a:p>
            <a:pPr marL="1675130" algn="ctr">
              <a:lnSpc>
                <a:spcPct val="100000"/>
              </a:lnSpc>
              <a:spcBef>
                <a:spcPts val="100"/>
              </a:spcBef>
            </a:pPr>
            <a:r>
              <a:rPr lang="en-US" sz="2400" b="1" spc="-20" dirty="0" smtClean="0">
                <a:latin typeface="Cambria"/>
                <a:cs typeface="Cambria"/>
              </a:rPr>
              <a:t>SIH25048</a:t>
            </a:r>
            <a:r>
              <a:rPr lang="en-US" sz="2400" b="1" spc="-55" dirty="0" smtClean="0">
                <a:latin typeface="Cambria"/>
                <a:cs typeface="Cambria"/>
              </a:rPr>
              <a:t> - Gamified Learning Platform</a:t>
            </a:r>
          </a:p>
          <a:p>
            <a:pPr marL="1675130" algn="ctr">
              <a:lnSpc>
                <a:spcPct val="100000"/>
              </a:lnSpc>
              <a:spcBef>
                <a:spcPts val="100"/>
              </a:spcBef>
            </a:pPr>
            <a:r>
              <a:rPr lang="en-US" sz="2400" b="1" spc="-55" dirty="0" smtClean="0">
                <a:latin typeface="Cambria"/>
                <a:cs typeface="Cambria"/>
              </a:rPr>
              <a:t>for Rural Education</a:t>
            </a:r>
            <a:endParaRPr lang="en-US" sz="2400" b="1" dirty="0">
              <a:latin typeface="Cambria" panose="02040503050406030204" pitchFamily="18" charset="0"/>
              <a:ea typeface="Cambria" panose="02040503050406030204" pitchFamily="18" charset="0"/>
            </a:endParaRPr>
          </a:p>
          <a:p>
            <a:pPr marL="12700" algn="l">
              <a:lnSpc>
                <a:spcPct val="100000"/>
              </a:lnSpc>
            </a:pPr>
            <a:r>
              <a:rPr lang="en-US" sz="1800" b="1" dirty="0">
                <a:solidFill>
                  <a:srgbClr val="16365D"/>
                </a:solidFill>
                <a:latin typeface="Cambria"/>
                <a:cs typeface="Cambria"/>
              </a:rPr>
              <a:t>Batch</a:t>
            </a:r>
            <a:r>
              <a:rPr lang="en-US" sz="1800" b="1" spc="-40" dirty="0">
                <a:solidFill>
                  <a:srgbClr val="16365D"/>
                </a:solidFill>
                <a:latin typeface="Cambria"/>
                <a:cs typeface="Cambria"/>
              </a:rPr>
              <a:t> </a:t>
            </a:r>
            <a:r>
              <a:rPr lang="en-US" sz="1800" b="1" dirty="0">
                <a:solidFill>
                  <a:srgbClr val="16365D"/>
                </a:solidFill>
                <a:latin typeface="Cambria"/>
                <a:cs typeface="Cambria"/>
              </a:rPr>
              <a:t>Number:</a:t>
            </a:r>
            <a:r>
              <a:rPr lang="en-US" sz="1800" b="1" spc="-30" dirty="0">
                <a:solidFill>
                  <a:srgbClr val="16365D"/>
                </a:solidFill>
                <a:latin typeface="Cambria"/>
                <a:cs typeface="Cambria"/>
              </a:rPr>
              <a:t> </a:t>
            </a:r>
            <a:r>
              <a:rPr lang="en-US" sz="1800" b="1" u="sng" dirty="0">
                <a:solidFill>
                  <a:srgbClr val="16365D"/>
                </a:solidFill>
                <a:latin typeface="Cambria"/>
                <a:cs typeface="Cambria"/>
              </a:rPr>
              <a:t>ISE</a:t>
            </a:r>
            <a:r>
              <a:rPr lang="en-US" sz="1800" b="1" u="sng" spc="-35" dirty="0">
                <a:solidFill>
                  <a:srgbClr val="16365D"/>
                </a:solidFill>
                <a:latin typeface="Cambria"/>
                <a:cs typeface="Cambria"/>
              </a:rPr>
              <a:t> </a:t>
            </a:r>
            <a:r>
              <a:rPr lang="en-US" b="1" u="sng" spc="-25" dirty="0" smtClean="0">
                <a:solidFill>
                  <a:srgbClr val="16365D"/>
                </a:solidFill>
                <a:latin typeface="Cambria"/>
                <a:cs typeface="Cambria"/>
              </a:rPr>
              <a:t>40</a:t>
            </a:r>
            <a:endParaRPr lang="en-US" b="1" u="sng" spc="-25" dirty="0">
              <a:solidFill>
                <a:srgbClr val="16365D"/>
              </a:solidFill>
              <a:latin typeface="Cambria"/>
              <a:cs typeface="Cambria"/>
            </a:endParaRPr>
          </a:p>
          <a:p>
            <a:pPr marL="12700">
              <a:lnSpc>
                <a:spcPct val="100000"/>
              </a:lnSpc>
            </a:pPr>
            <a:endParaRPr sz="1800" dirty="0">
              <a:latin typeface="Cambria"/>
              <a:cs typeface="Cambria"/>
            </a:endParaRPr>
          </a:p>
        </p:txBody>
      </p:sp>
      <p:sp>
        <p:nvSpPr>
          <p:cNvPr id="3" name="object 3"/>
          <p:cNvSpPr txBox="1"/>
          <p:nvPr/>
        </p:nvSpPr>
        <p:spPr>
          <a:xfrm>
            <a:off x="6558280" y="2703195"/>
            <a:ext cx="4676140" cy="1626343"/>
          </a:xfrm>
          <a:prstGeom prst="rect">
            <a:avLst/>
          </a:prstGeom>
        </p:spPr>
        <p:txBody>
          <a:bodyPr vert="horz" wrap="square" lIns="0" tIns="12700" rIns="0" bIns="0" rtlCol="0">
            <a:spAutoFit/>
          </a:bodyPr>
          <a:lstStyle/>
          <a:p>
            <a:pPr marL="12700" marR="1995805">
              <a:lnSpc>
                <a:spcPct val="115700"/>
              </a:lnSpc>
              <a:spcBef>
                <a:spcPts val="100"/>
              </a:spcBef>
            </a:pPr>
            <a:r>
              <a:rPr sz="1800" b="1" dirty="0">
                <a:solidFill>
                  <a:srgbClr val="16365D"/>
                </a:solidFill>
                <a:latin typeface="Cambria"/>
                <a:cs typeface="Cambria"/>
              </a:rPr>
              <a:t>Under</a:t>
            </a:r>
            <a:r>
              <a:rPr sz="1800" b="1" spc="-55" dirty="0">
                <a:solidFill>
                  <a:srgbClr val="16365D"/>
                </a:solidFill>
                <a:latin typeface="Cambria"/>
                <a:cs typeface="Cambria"/>
              </a:rPr>
              <a:t> </a:t>
            </a:r>
            <a:r>
              <a:rPr sz="1800" b="1" dirty="0">
                <a:solidFill>
                  <a:srgbClr val="16365D"/>
                </a:solidFill>
                <a:latin typeface="Cambria"/>
                <a:cs typeface="Cambria"/>
              </a:rPr>
              <a:t>the</a:t>
            </a:r>
            <a:r>
              <a:rPr sz="1800" b="1" spc="-50" dirty="0">
                <a:solidFill>
                  <a:srgbClr val="16365D"/>
                </a:solidFill>
                <a:latin typeface="Cambria"/>
                <a:cs typeface="Cambria"/>
              </a:rPr>
              <a:t> </a:t>
            </a:r>
            <a:r>
              <a:rPr sz="1800" b="1" dirty="0">
                <a:solidFill>
                  <a:srgbClr val="16365D"/>
                </a:solidFill>
                <a:latin typeface="Cambria"/>
                <a:cs typeface="Cambria"/>
              </a:rPr>
              <a:t>Supervision</a:t>
            </a:r>
            <a:r>
              <a:rPr sz="1800" b="1" spc="-55" dirty="0">
                <a:solidFill>
                  <a:srgbClr val="16365D"/>
                </a:solidFill>
                <a:latin typeface="Cambria"/>
                <a:cs typeface="Cambria"/>
              </a:rPr>
              <a:t> </a:t>
            </a:r>
            <a:r>
              <a:rPr sz="1800" b="1" spc="-25" dirty="0">
                <a:solidFill>
                  <a:srgbClr val="16365D"/>
                </a:solidFill>
                <a:latin typeface="Cambria"/>
                <a:cs typeface="Cambria"/>
              </a:rPr>
              <a:t>of, </a:t>
            </a:r>
            <a:endParaRPr lang="en-US" b="1" spc="-25" dirty="0">
              <a:solidFill>
                <a:srgbClr val="16365D"/>
              </a:solidFill>
              <a:latin typeface="Cambria"/>
              <a:cs typeface="Cambria"/>
            </a:endParaRPr>
          </a:p>
          <a:p>
            <a:pPr marL="12700" marR="1995805">
              <a:lnSpc>
                <a:spcPct val="115700"/>
              </a:lnSpc>
              <a:spcBef>
                <a:spcPts val="100"/>
              </a:spcBef>
            </a:pPr>
            <a:r>
              <a:rPr lang="en-IN" sz="1800" b="1" spc="-25" dirty="0" smtClean="0">
                <a:solidFill>
                  <a:srgbClr val="16365D"/>
                </a:solidFill>
                <a:latin typeface="Cambria"/>
                <a:cs typeface="Cambria"/>
              </a:rPr>
              <a:t>Ms. </a:t>
            </a:r>
            <a:r>
              <a:rPr lang="en-IN" b="1" spc="-25" dirty="0" err="1" smtClean="0">
                <a:solidFill>
                  <a:srgbClr val="16365D"/>
                </a:solidFill>
                <a:latin typeface="Cambria"/>
                <a:cs typeface="Cambria"/>
              </a:rPr>
              <a:t>Priyanki</a:t>
            </a:r>
            <a:r>
              <a:rPr lang="en-IN" b="1" spc="-25" dirty="0" smtClean="0">
                <a:solidFill>
                  <a:srgbClr val="16365D"/>
                </a:solidFill>
                <a:latin typeface="Cambria"/>
                <a:cs typeface="Cambria"/>
              </a:rPr>
              <a:t> Dutta</a:t>
            </a:r>
            <a:endParaRPr sz="1800" dirty="0">
              <a:latin typeface="Cambria"/>
              <a:cs typeface="Cambria"/>
            </a:endParaRPr>
          </a:p>
          <a:p>
            <a:pPr marL="12700">
              <a:lnSpc>
                <a:spcPct val="100000"/>
              </a:lnSpc>
              <a:spcBef>
                <a:spcPts val="340"/>
              </a:spcBef>
            </a:pPr>
            <a:r>
              <a:rPr sz="1800" b="1" dirty="0">
                <a:latin typeface="Cambria"/>
                <a:cs typeface="Cambria"/>
              </a:rPr>
              <a:t>Assistant</a:t>
            </a:r>
            <a:r>
              <a:rPr sz="1800" b="1" spc="-75" dirty="0">
                <a:latin typeface="Cambria"/>
                <a:cs typeface="Cambria"/>
              </a:rPr>
              <a:t> </a:t>
            </a:r>
            <a:r>
              <a:rPr sz="1800" b="1" spc="-10" dirty="0">
                <a:latin typeface="Cambria"/>
                <a:cs typeface="Cambria"/>
              </a:rPr>
              <a:t>Professor</a:t>
            </a:r>
            <a:endParaRPr sz="1800" dirty="0">
              <a:latin typeface="Cambria"/>
              <a:cs typeface="Cambria"/>
            </a:endParaRPr>
          </a:p>
          <a:p>
            <a:pPr marL="12700" marR="5080">
              <a:lnSpc>
                <a:spcPct val="115700"/>
              </a:lnSpc>
            </a:pPr>
            <a:r>
              <a:rPr sz="1800" b="1" dirty="0">
                <a:latin typeface="Cambria"/>
                <a:cs typeface="Cambria"/>
              </a:rPr>
              <a:t>School</a:t>
            </a:r>
            <a:r>
              <a:rPr sz="1800" b="1" spc="-50" dirty="0">
                <a:latin typeface="Cambria"/>
                <a:cs typeface="Cambria"/>
              </a:rPr>
              <a:t> </a:t>
            </a:r>
            <a:r>
              <a:rPr sz="1800" b="1" dirty="0">
                <a:latin typeface="Cambria"/>
                <a:cs typeface="Cambria"/>
              </a:rPr>
              <a:t>of</a:t>
            </a:r>
            <a:r>
              <a:rPr sz="1800" b="1" spc="-45" dirty="0">
                <a:latin typeface="Cambria"/>
                <a:cs typeface="Cambria"/>
              </a:rPr>
              <a:t> </a:t>
            </a:r>
            <a:r>
              <a:rPr sz="1800" b="1" dirty="0">
                <a:latin typeface="Cambria"/>
                <a:cs typeface="Cambria"/>
              </a:rPr>
              <a:t>Computer</a:t>
            </a:r>
            <a:r>
              <a:rPr sz="1800" b="1" spc="-50" dirty="0">
                <a:latin typeface="Cambria"/>
                <a:cs typeface="Cambria"/>
              </a:rPr>
              <a:t> </a:t>
            </a:r>
            <a:r>
              <a:rPr sz="1800" b="1" dirty="0">
                <a:latin typeface="Cambria"/>
                <a:cs typeface="Cambria"/>
              </a:rPr>
              <a:t>Science</a:t>
            </a:r>
            <a:r>
              <a:rPr sz="1800" b="1" spc="-45" dirty="0">
                <a:latin typeface="Cambria"/>
                <a:cs typeface="Cambria"/>
              </a:rPr>
              <a:t> </a:t>
            </a:r>
            <a:r>
              <a:rPr sz="1800" b="1" dirty="0">
                <a:latin typeface="Cambria"/>
                <a:cs typeface="Cambria"/>
              </a:rPr>
              <a:t>and</a:t>
            </a:r>
            <a:r>
              <a:rPr sz="1800" b="1" spc="-55" dirty="0">
                <a:latin typeface="Cambria"/>
                <a:cs typeface="Cambria"/>
              </a:rPr>
              <a:t> </a:t>
            </a:r>
            <a:r>
              <a:rPr sz="1800" b="1" spc="-10" dirty="0">
                <a:latin typeface="Cambria"/>
                <a:cs typeface="Cambria"/>
              </a:rPr>
              <a:t>Engineering </a:t>
            </a:r>
            <a:r>
              <a:rPr sz="1800" b="1" dirty="0">
                <a:latin typeface="Cambria"/>
                <a:cs typeface="Cambria"/>
              </a:rPr>
              <a:t>Presidency</a:t>
            </a:r>
            <a:r>
              <a:rPr sz="1800" b="1" spc="-70" dirty="0">
                <a:latin typeface="Cambria"/>
                <a:cs typeface="Cambria"/>
              </a:rPr>
              <a:t> </a:t>
            </a:r>
            <a:r>
              <a:rPr sz="1800" b="1" spc="-10" dirty="0">
                <a:latin typeface="Cambria"/>
                <a:cs typeface="Cambria"/>
              </a:rPr>
              <a:t>University</a:t>
            </a:r>
            <a:endParaRPr sz="1800" dirty="0">
              <a:latin typeface="Cambria"/>
              <a:cs typeface="Cambria"/>
            </a:endParaRPr>
          </a:p>
        </p:txBody>
      </p:sp>
      <p:sp>
        <p:nvSpPr>
          <p:cNvPr id="4" name="object 4"/>
          <p:cNvSpPr txBox="1"/>
          <p:nvPr/>
        </p:nvSpPr>
        <p:spPr>
          <a:xfrm>
            <a:off x="762000" y="2684780"/>
            <a:ext cx="1572895" cy="1483227"/>
          </a:xfrm>
          <a:prstGeom prst="rect">
            <a:avLst/>
          </a:prstGeom>
        </p:spPr>
        <p:txBody>
          <a:bodyPr vert="horz" wrap="square" lIns="0" tIns="12700" rIns="0" bIns="0" rtlCol="0">
            <a:spAutoFit/>
          </a:bodyPr>
          <a:lstStyle/>
          <a:p>
            <a:pPr marL="12700" marR="5080" indent="108585">
              <a:lnSpc>
                <a:spcPct val="133300"/>
              </a:lnSpc>
              <a:spcBef>
                <a:spcPts val="100"/>
              </a:spcBef>
            </a:pPr>
            <a:r>
              <a:rPr sz="1800" b="1" dirty="0">
                <a:solidFill>
                  <a:srgbClr val="16365D"/>
                </a:solidFill>
                <a:latin typeface="Cambria"/>
                <a:cs typeface="Cambria"/>
              </a:rPr>
              <a:t>Roll</a:t>
            </a:r>
            <a:r>
              <a:rPr sz="1800" b="1" spc="-25" dirty="0">
                <a:solidFill>
                  <a:srgbClr val="16365D"/>
                </a:solidFill>
                <a:latin typeface="Cambria"/>
                <a:cs typeface="Cambria"/>
              </a:rPr>
              <a:t> </a:t>
            </a:r>
            <a:r>
              <a:rPr sz="1800" b="1" spc="-10" dirty="0">
                <a:solidFill>
                  <a:srgbClr val="16365D"/>
                </a:solidFill>
                <a:latin typeface="Cambria"/>
                <a:cs typeface="Cambria"/>
              </a:rPr>
              <a:t>Number </a:t>
            </a:r>
            <a:r>
              <a:rPr sz="1800" b="1" spc="-10" dirty="0" smtClean="0">
                <a:latin typeface="Cambria"/>
                <a:cs typeface="Cambria"/>
              </a:rPr>
              <a:t>20221ISE005</a:t>
            </a:r>
            <a:r>
              <a:rPr lang="en-US" sz="1800" b="1" spc="-10" dirty="0" smtClean="0">
                <a:latin typeface="Cambria"/>
                <a:cs typeface="Cambria"/>
              </a:rPr>
              <a:t>1</a:t>
            </a:r>
            <a:endParaRPr sz="1800" dirty="0">
              <a:latin typeface="Cambria"/>
              <a:cs typeface="Cambria"/>
            </a:endParaRPr>
          </a:p>
          <a:p>
            <a:pPr marL="12700">
              <a:lnSpc>
                <a:spcPct val="100000"/>
              </a:lnSpc>
              <a:spcBef>
                <a:spcPts val="720"/>
              </a:spcBef>
            </a:pPr>
            <a:r>
              <a:rPr sz="1800" b="1" spc="-10" dirty="0" smtClean="0">
                <a:latin typeface="Cambria"/>
                <a:cs typeface="Cambria"/>
              </a:rPr>
              <a:t>20221ISE00</a:t>
            </a:r>
            <a:r>
              <a:rPr lang="en-US" sz="1800" b="1" spc="-10" dirty="0" smtClean="0">
                <a:latin typeface="Cambria"/>
                <a:cs typeface="Cambria"/>
              </a:rPr>
              <a:t>79</a:t>
            </a:r>
            <a:endParaRPr sz="1800" dirty="0">
              <a:latin typeface="Cambria"/>
              <a:cs typeface="Cambria"/>
            </a:endParaRPr>
          </a:p>
          <a:p>
            <a:pPr marL="12700">
              <a:lnSpc>
                <a:spcPct val="100000"/>
              </a:lnSpc>
              <a:spcBef>
                <a:spcPts val="720"/>
              </a:spcBef>
            </a:pPr>
            <a:r>
              <a:rPr sz="1800" b="1" spc="-10" dirty="0" smtClean="0">
                <a:latin typeface="Cambria"/>
                <a:cs typeface="Cambria"/>
              </a:rPr>
              <a:t>20221ISE00</a:t>
            </a:r>
            <a:r>
              <a:rPr lang="en-US" sz="1800" b="1" spc="-10" dirty="0" smtClean="0">
                <a:latin typeface="Cambria"/>
                <a:cs typeface="Cambria"/>
              </a:rPr>
              <a:t>29</a:t>
            </a:r>
            <a:endParaRPr sz="1800" dirty="0">
              <a:latin typeface="Cambria"/>
              <a:cs typeface="Cambria"/>
            </a:endParaRPr>
          </a:p>
        </p:txBody>
      </p:sp>
      <p:sp>
        <p:nvSpPr>
          <p:cNvPr id="5" name="object 5"/>
          <p:cNvSpPr txBox="1"/>
          <p:nvPr/>
        </p:nvSpPr>
        <p:spPr>
          <a:xfrm>
            <a:off x="3017786" y="2655798"/>
            <a:ext cx="2446655" cy="1525033"/>
          </a:xfrm>
          <a:prstGeom prst="rect">
            <a:avLst/>
          </a:prstGeom>
        </p:spPr>
        <p:txBody>
          <a:bodyPr vert="horz" wrap="square" lIns="0" tIns="12700" rIns="0" bIns="0" rtlCol="0">
            <a:spAutoFit/>
          </a:bodyPr>
          <a:lstStyle/>
          <a:p>
            <a:pPr marL="12700" marR="5080" indent="539750">
              <a:lnSpc>
                <a:spcPct val="133300"/>
              </a:lnSpc>
              <a:spcBef>
                <a:spcPts val="100"/>
              </a:spcBef>
            </a:pPr>
            <a:r>
              <a:rPr sz="1800" b="1" dirty="0">
                <a:solidFill>
                  <a:srgbClr val="16365D"/>
                </a:solidFill>
                <a:latin typeface="Cambria"/>
                <a:cs typeface="Cambria"/>
              </a:rPr>
              <a:t>Student</a:t>
            </a:r>
            <a:r>
              <a:rPr sz="1800" b="1" spc="-75" dirty="0">
                <a:solidFill>
                  <a:srgbClr val="16365D"/>
                </a:solidFill>
                <a:latin typeface="Cambria"/>
                <a:cs typeface="Cambria"/>
              </a:rPr>
              <a:t> </a:t>
            </a:r>
            <a:r>
              <a:rPr sz="1800" b="1" spc="-20" dirty="0" smtClean="0">
                <a:solidFill>
                  <a:srgbClr val="16365D"/>
                </a:solidFill>
                <a:latin typeface="Cambria"/>
                <a:cs typeface="Cambria"/>
              </a:rPr>
              <a:t>Name</a:t>
            </a:r>
            <a:endParaRPr lang="en-US" sz="1800" b="1" spc="-20" dirty="0" smtClean="0">
              <a:solidFill>
                <a:srgbClr val="16365D"/>
              </a:solidFill>
              <a:latin typeface="Cambria"/>
              <a:cs typeface="Cambria"/>
            </a:endParaRPr>
          </a:p>
          <a:p>
            <a:pPr marL="12700" marR="5080" indent="539750">
              <a:lnSpc>
                <a:spcPct val="133300"/>
              </a:lnSpc>
              <a:spcBef>
                <a:spcPts val="100"/>
              </a:spcBef>
            </a:pPr>
            <a:r>
              <a:rPr lang="en-US" b="1" spc="-20" dirty="0" err="1" smtClean="0">
                <a:latin typeface="Cambria"/>
                <a:cs typeface="Cambria"/>
              </a:rPr>
              <a:t>Shivateja</a:t>
            </a:r>
            <a:r>
              <a:rPr lang="en-US" b="1" spc="-20" dirty="0" smtClean="0">
                <a:latin typeface="Cambria"/>
                <a:cs typeface="Cambria"/>
              </a:rPr>
              <a:t> </a:t>
            </a:r>
          </a:p>
          <a:p>
            <a:pPr marL="12700" marR="5080" indent="539750">
              <a:lnSpc>
                <a:spcPct val="133300"/>
              </a:lnSpc>
              <a:spcBef>
                <a:spcPts val="100"/>
              </a:spcBef>
            </a:pPr>
            <a:r>
              <a:rPr lang="en-US" sz="1800" b="1" spc="-20" dirty="0" smtClean="0">
                <a:latin typeface="Cambria"/>
                <a:cs typeface="Cambria"/>
              </a:rPr>
              <a:t>Dhanaraj</a:t>
            </a:r>
          </a:p>
          <a:p>
            <a:pPr marL="12700" marR="5080" indent="539750">
              <a:lnSpc>
                <a:spcPct val="133300"/>
              </a:lnSpc>
              <a:spcBef>
                <a:spcPts val="100"/>
              </a:spcBef>
            </a:pPr>
            <a:r>
              <a:rPr lang="en-US" b="1" spc="-20" dirty="0" err="1" smtClean="0">
                <a:latin typeface="Cambria"/>
                <a:cs typeface="Cambria"/>
              </a:rPr>
              <a:t>Darshan</a:t>
            </a:r>
            <a:endParaRPr sz="1800" dirty="0">
              <a:latin typeface="Cambria"/>
              <a:cs typeface="Cambria"/>
            </a:endParaRPr>
          </a:p>
        </p:txBody>
      </p:sp>
      <p:sp>
        <p:nvSpPr>
          <p:cNvPr id="6" name="object 6"/>
          <p:cNvSpPr txBox="1">
            <a:spLocks noGrp="1"/>
          </p:cNvSpPr>
          <p:nvPr>
            <p:ph type="title"/>
          </p:nvPr>
        </p:nvSpPr>
        <p:spPr>
          <a:xfrm>
            <a:off x="4157470" y="121830"/>
            <a:ext cx="3081529" cy="643766"/>
          </a:xfrm>
          <a:prstGeom prst="rect">
            <a:avLst/>
          </a:prstGeom>
        </p:spPr>
        <p:txBody>
          <a:bodyPr vert="horz" wrap="square" lIns="0" tIns="12065" rIns="0" bIns="0" rtlCol="0">
            <a:spAutoFit/>
          </a:bodyPr>
          <a:lstStyle/>
          <a:p>
            <a:pPr marL="933450" marR="5080" indent="-920750">
              <a:lnSpc>
                <a:spcPct val="114399"/>
              </a:lnSpc>
              <a:spcBef>
                <a:spcPts val="95"/>
              </a:spcBef>
            </a:pPr>
            <a:r>
              <a:rPr sz="1800" dirty="0"/>
              <a:t>CSE7</a:t>
            </a:r>
            <a:r>
              <a:rPr lang="en-US" sz="1800" dirty="0"/>
              <a:t>3</a:t>
            </a:r>
            <a:r>
              <a:rPr sz="1800" dirty="0"/>
              <a:t>0</a:t>
            </a:r>
            <a:r>
              <a:rPr lang="en-US" sz="1800" dirty="0"/>
              <a:t>2</a:t>
            </a:r>
            <a:r>
              <a:rPr sz="1800" dirty="0"/>
              <a:t>-</a:t>
            </a:r>
            <a:r>
              <a:rPr sz="1800" spc="-65" dirty="0"/>
              <a:t> </a:t>
            </a:r>
            <a:r>
              <a:rPr lang="en-US" sz="1800" spc="-65" dirty="0"/>
              <a:t>University</a:t>
            </a:r>
            <a:r>
              <a:rPr sz="1800" spc="-65" dirty="0"/>
              <a:t> </a:t>
            </a:r>
            <a:r>
              <a:rPr sz="1800" spc="-10" dirty="0"/>
              <a:t>Project </a:t>
            </a:r>
            <a:r>
              <a:rPr sz="1800" spc="-10" dirty="0" smtClean="0"/>
              <a:t>Review-</a:t>
            </a:r>
            <a:r>
              <a:rPr lang="en-US" sz="1800" spc="-50" dirty="0"/>
              <a:t>3</a:t>
            </a:r>
            <a:endParaRPr sz="1800" dirty="0"/>
          </a:p>
        </p:txBody>
      </p:sp>
      <p:sp>
        <p:nvSpPr>
          <p:cNvPr id="7" name="object 7"/>
          <p:cNvSpPr txBox="1"/>
          <p:nvPr/>
        </p:nvSpPr>
        <p:spPr>
          <a:xfrm>
            <a:off x="78105" y="4558665"/>
            <a:ext cx="7527925" cy="843821"/>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30" dirty="0">
                <a:solidFill>
                  <a:srgbClr val="4F81BC"/>
                </a:solidFill>
                <a:latin typeface="Cambria"/>
                <a:cs typeface="Cambria"/>
              </a:rPr>
              <a:t> </a:t>
            </a:r>
            <a:r>
              <a:rPr sz="1800" b="1" dirty="0">
                <a:solidFill>
                  <a:srgbClr val="4F81BC"/>
                </a:solidFill>
                <a:latin typeface="Cambria"/>
                <a:cs typeface="Cambria"/>
              </a:rPr>
              <a:t>the</a:t>
            </a:r>
            <a:r>
              <a:rPr sz="1800" b="1" spc="-30" dirty="0">
                <a:solidFill>
                  <a:srgbClr val="4F81BC"/>
                </a:solidFill>
                <a:latin typeface="Cambria"/>
                <a:cs typeface="Cambria"/>
              </a:rPr>
              <a:t> </a:t>
            </a:r>
            <a:r>
              <a:rPr sz="1800" b="1" dirty="0">
                <a:solidFill>
                  <a:srgbClr val="4F81BC"/>
                </a:solidFill>
                <a:latin typeface="Cambria"/>
                <a:cs typeface="Cambria"/>
              </a:rPr>
              <a:t>Program:</a:t>
            </a:r>
            <a:r>
              <a:rPr sz="1800" b="1" spc="-25" dirty="0">
                <a:solidFill>
                  <a:srgbClr val="4F81BC"/>
                </a:solidFill>
                <a:latin typeface="Cambria"/>
                <a:cs typeface="Cambria"/>
              </a:rPr>
              <a:t> </a:t>
            </a:r>
            <a:r>
              <a:rPr sz="1800" b="1" spc="-10" dirty="0">
                <a:latin typeface="Cambria"/>
                <a:cs typeface="Cambria"/>
              </a:rPr>
              <a:t>B.Tech</a:t>
            </a:r>
            <a:endParaRPr sz="1800" dirty="0">
              <a:latin typeface="Cambria"/>
              <a:cs typeface="Cambria"/>
            </a:endParaRPr>
          </a:p>
          <a:p>
            <a:pPr>
              <a:buClr>
                <a:srgbClr val="17365D"/>
              </a:buClr>
              <a:buSzPct val="100000"/>
            </a:pPr>
            <a:r>
              <a:rPr sz="1800" b="1" dirty="0">
                <a:solidFill>
                  <a:srgbClr val="4F81BC"/>
                </a:solidFill>
                <a:latin typeface="Cambria"/>
                <a:cs typeface="Cambria"/>
              </a:rPr>
              <a:t>Name</a:t>
            </a:r>
            <a:r>
              <a:rPr sz="1800" b="1" spc="-15" dirty="0">
                <a:solidFill>
                  <a:srgbClr val="4F81BC"/>
                </a:solidFill>
                <a:latin typeface="Cambria"/>
                <a:cs typeface="Cambria"/>
              </a:rPr>
              <a:t> </a:t>
            </a:r>
            <a:r>
              <a:rPr sz="1800" b="1" dirty="0">
                <a:solidFill>
                  <a:srgbClr val="4F81BC"/>
                </a:solidFill>
                <a:latin typeface="Cambria"/>
                <a:cs typeface="Cambria"/>
              </a:rPr>
              <a:t>of</a:t>
            </a:r>
            <a:r>
              <a:rPr sz="1800" b="1" spc="-10" dirty="0">
                <a:solidFill>
                  <a:srgbClr val="4F81BC"/>
                </a:solidFill>
                <a:latin typeface="Cambria"/>
                <a:cs typeface="Cambria"/>
              </a:rPr>
              <a:t> </a:t>
            </a:r>
            <a:r>
              <a:rPr sz="1800" b="1" dirty="0">
                <a:solidFill>
                  <a:srgbClr val="4F81BC"/>
                </a:solidFill>
                <a:latin typeface="Cambria"/>
                <a:cs typeface="Cambria"/>
              </a:rPr>
              <a:t>the</a:t>
            </a:r>
            <a:r>
              <a:rPr sz="1800" b="1" spc="-10" dirty="0">
                <a:solidFill>
                  <a:srgbClr val="4F81BC"/>
                </a:solidFill>
                <a:latin typeface="Cambria"/>
                <a:cs typeface="Cambria"/>
              </a:rPr>
              <a:t> </a:t>
            </a:r>
            <a:r>
              <a:rPr sz="1800" b="1" dirty="0">
                <a:solidFill>
                  <a:srgbClr val="4F81BC"/>
                </a:solidFill>
                <a:latin typeface="Cambria"/>
                <a:cs typeface="Cambria"/>
              </a:rPr>
              <a:t>HoD:</a:t>
            </a:r>
            <a:r>
              <a:rPr sz="1800" b="1" spc="-5" dirty="0">
                <a:solidFill>
                  <a:srgbClr val="4F81BC"/>
                </a:solidFill>
                <a:latin typeface="Cambria"/>
                <a:cs typeface="Cambria"/>
              </a:rPr>
              <a:t>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a:t>
            </a:r>
            <a:r>
              <a:rPr lang="en-US"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Gopal Shyam</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marL="12700">
              <a:lnSpc>
                <a:spcPct val="100000"/>
              </a:lnSpc>
            </a:pPr>
            <a:r>
              <a:rPr sz="1800" b="1" dirty="0">
                <a:solidFill>
                  <a:srgbClr val="4F81BC"/>
                </a:solidFill>
                <a:latin typeface="Cambria"/>
                <a:cs typeface="Cambria"/>
              </a:rPr>
              <a:t>Name</a:t>
            </a:r>
            <a:r>
              <a:rPr sz="1800" b="1" spc="-25"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20" dirty="0">
                <a:solidFill>
                  <a:srgbClr val="4F81BC"/>
                </a:solidFill>
                <a:latin typeface="Cambria"/>
                <a:cs typeface="Cambria"/>
              </a:rPr>
              <a:t> </a:t>
            </a:r>
            <a:r>
              <a:rPr sz="1800" b="1" dirty="0">
                <a:solidFill>
                  <a:srgbClr val="4F81BC"/>
                </a:solidFill>
                <a:latin typeface="Cambria"/>
                <a:cs typeface="Cambria"/>
              </a:rPr>
              <a:t>School</a:t>
            </a:r>
            <a:r>
              <a:rPr sz="1800" b="1" spc="-25" dirty="0">
                <a:solidFill>
                  <a:srgbClr val="4F81BC"/>
                </a:solidFill>
                <a:latin typeface="Cambria"/>
                <a:cs typeface="Cambria"/>
              </a:rPr>
              <a:t> </a:t>
            </a:r>
            <a:r>
              <a:rPr sz="1800" b="1" dirty="0">
                <a:solidFill>
                  <a:srgbClr val="4F81BC"/>
                </a:solidFill>
                <a:latin typeface="Cambria"/>
                <a:cs typeface="Cambria"/>
              </a:rPr>
              <a:t>Project</a:t>
            </a:r>
            <a:r>
              <a:rPr sz="1800" b="1" spc="-20" dirty="0">
                <a:solidFill>
                  <a:srgbClr val="4F81BC"/>
                </a:solidFill>
                <a:latin typeface="Cambria"/>
                <a:cs typeface="Cambria"/>
              </a:rPr>
              <a:t> </a:t>
            </a:r>
            <a:r>
              <a:rPr sz="1800" b="1" spc="-10" dirty="0">
                <a:solidFill>
                  <a:srgbClr val="4F81BC"/>
                </a:solidFill>
                <a:latin typeface="Cambria"/>
                <a:cs typeface="Cambria"/>
              </a:rPr>
              <a:t>Coordinators:</a:t>
            </a:r>
            <a:r>
              <a:rPr lang="en-US" sz="1800" b="1" spc="-10" dirty="0">
                <a:solidFill>
                  <a:srgbClr val="4F81BC"/>
                </a:solidFill>
                <a:latin typeface="Cambria"/>
                <a:cs typeface="Cambria"/>
              </a:rPr>
              <a:t> </a:t>
            </a:r>
            <a:r>
              <a:rPr lang="en-US" b="1" dirty="0">
                <a:latin typeface="Cambria" panose="02040503050406030204" pitchFamily="18" charset="0"/>
                <a:ea typeface="Cambria" panose="02040503050406030204" pitchFamily="18" charset="0"/>
              </a:rPr>
              <a:t>Ms. Sumita Guddin</a:t>
            </a:r>
            <a:r>
              <a:rPr lang="en-US" b="1" dirty="0"/>
              <a:t> </a:t>
            </a:r>
            <a:endParaRPr sz="1800" b="1" dirty="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Content</a:t>
            </a:r>
          </a:p>
        </p:txBody>
      </p:sp>
      <p:sp>
        <p:nvSpPr>
          <p:cNvPr id="3" name="object 3"/>
          <p:cNvSpPr txBox="1"/>
          <p:nvPr/>
        </p:nvSpPr>
        <p:spPr>
          <a:xfrm>
            <a:off x="886282" y="1263713"/>
            <a:ext cx="9553118" cy="5647700"/>
          </a:xfrm>
          <a:prstGeom prst="rect">
            <a:avLst/>
          </a:prstGeom>
        </p:spPr>
        <p:txBody>
          <a:bodyPr vert="horz" wrap="square" lIns="0" tIns="106680" rIns="0" bIns="0" rtlCol="0">
            <a:spAutoFit/>
          </a:bodyPr>
          <a:lstStyle/>
          <a:p>
            <a:pPr marL="354965" indent="-342265">
              <a:lnSpc>
                <a:spcPct val="100000"/>
              </a:lnSpc>
              <a:spcBef>
                <a:spcPts val="840"/>
              </a:spcBef>
              <a:buSzPct val="150000"/>
              <a:buFont typeface="Arial MT"/>
              <a:buChar char="•"/>
              <a:tabLst>
                <a:tab pos="354965" algn="l"/>
              </a:tabLst>
            </a:pPr>
            <a:r>
              <a:rPr sz="2400" dirty="0">
                <a:latin typeface="Cambria" panose="02040503050406030204" pitchFamily="18" charset="0"/>
                <a:ea typeface="Cambria" panose="02040503050406030204" pitchFamily="18" charset="0"/>
                <a:cs typeface="Cambria"/>
              </a:rPr>
              <a:t>Problem</a:t>
            </a:r>
            <a:r>
              <a:rPr sz="2400" spc="-6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Statement</a:t>
            </a:r>
            <a:endParaRPr sz="2400" dirty="0">
              <a:latin typeface="Cambria" panose="02040503050406030204" pitchFamily="18" charset="0"/>
              <a:ea typeface="Cambria" panose="02040503050406030204" pitchFamily="18" charset="0"/>
              <a:cs typeface="Cambria"/>
            </a:endParaRPr>
          </a:p>
          <a:p>
            <a:pPr>
              <a:lnSpc>
                <a:spcPct val="100000"/>
              </a:lnSpc>
              <a:spcBef>
                <a:spcPts val="40"/>
              </a:spcBef>
              <a:buFont typeface="Arial MT"/>
              <a:buChar char="•"/>
            </a:pPr>
            <a:endParaRPr sz="2400" dirty="0">
              <a:latin typeface="Cambria" panose="02040503050406030204" pitchFamily="18" charset="0"/>
              <a:ea typeface="Cambria" panose="02040503050406030204" pitchFamily="18" charset="0"/>
              <a:cs typeface="Cambria"/>
            </a:endParaRPr>
          </a:p>
          <a:p>
            <a:pPr marL="354965" indent="-342265">
              <a:lnSpc>
                <a:spcPct val="100000"/>
              </a:lnSpc>
              <a:spcBef>
                <a:spcPts val="5"/>
              </a:spcBef>
              <a:buSzPct val="150000"/>
              <a:buFont typeface="Arial MT"/>
              <a:buChar char="•"/>
              <a:tabLst>
                <a:tab pos="354965" algn="l"/>
              </a:tabLst>
            </a:pPr>
            <a:r>
              <a:rPr sz="2400" spc="-10" dirty="0">
                <a:latin typeface="Cambria" panose="02040503050406030204" pitchFamily="18" charset="0"/>
                <a:ea typeface="Cambria" panose="02040503050406030204" pitchFamily="18" charset="0"/>
                <a:cs typeface="Cambria"/>
              </a:rPr>
              <a:t>Objectives</a:t>
            </a:r>
            <a:endParaRPr lang="en-US" sz="2400" spc="-10" dirty="0">
              <a:latin typeface="Cambria" panose="02040503050406030204" pitchFamily="18" charset="0"/>
              <a:ea typeface="Cambria" panose="02040503050406030204" pitchFamily="18" charset="0"/>
              <a:cs typeface="Cambria"/>
            </a:endParaRPr>
          </a:p>
          <a:p>
            <a:pPr marL="12700">
              <a:lnSpc>
                <a:spcPct val="100000"/>
              </a:lnSpc>
              <a:spcBef>
                <a:spcPts val="5"/>
              </a:spcBef>
              <a:buSzPct val="150000"/>
              <a:tabLst>
                <a:tab pos="354965" algn="l"/>
              </a:tabLst>
            </a:pPr>
            <a:endParaRPr sz="2400" dirty="0">
              <a:latin typeface="Cambria" panose="02040503050406030204" pitchFamily="18" charset="0"/>
              <a:ea typeface="Cambria" panose="02040503050406030204" pitchFamily="18" charset="0"/>
              <a:cs typeface="Cambria"/>
            </a:endParaRPr>
          </a:p>
          <a:p>
            <a:pPr marL="354965" indent="-342265">
              <a:lnSpc>
                <a:spcPct val="100000"/>
              </a:lnSpc>
              <a:buSzPct val="150000"/>
              <a:buFont typeface="Arial MT"/>
              <a:buChar char="•"/>
              <a:tabLst>
                <a:tab pos="354965" algn="l"/>
              </a:tabLst>
            </a:pPr>
            <a:r>
              <a:rPr sz="2400" dirty="0">
                <a:latin typeface="Cambria" panose="02040503050406030204" pitchFamily="18" charset="0"/>
                <a:ea typeface="Cambria" panose="02040503050406030204" pitchFamily="18" charset="0"/>
                <a:cs typeface="Cambria"/>
              </a:rPr>
              <a:t>Analysis</a:t>
            </a:r>
            <a:r>
              <a:rPr sz="2400" spc="-50" dirty="0">
                <a:latin typeface="Cambria" panose="02040503050406030204" pitchFamily="18" charset="0"/>
                <a:ea typeface="Cambria" panose="02040503050406030204" pitchFamily="18" charset="0"/>
                <a:cs typeface="Cambria"/>
              </a:rPr>
              <a:t> </a:t>
            </a:r>
            <a:r>
              <a:rPr sz="2400" dirty="0">
                <a:latin typeface="Cambria" panose="02040503050406030204" pitchFamily="18" charset="0"/>
                <a:ea typeface="Cambria" panose="02040503050406030204" pitchFamily="18" charset="0"/>
                <a:cs typeface="Cambria"/>
              </a:rPr>
              <a:t>of</a:t>
            </a:r>
            <a:r>
              <a:rPr sz="2400" spc="-50" dirty="0">
                <a:latin typeface="Cambria" panose="02040503050406030204" pitchFamily="18" charset="0"/>
                <a:ea typeface="Cambria" panose="02040503050406030204" pitchFamily="18" charset="0"/>
                <a:cs typeface="Cambria"/>
              </a:rPr>
              <a:t> </a:t>
            </a:r>
            <a:r>
              <a:rPr sz="2400" dirty="0">
                <a:latin typeface="Cambria" panose="02040503050406030204" pitchFamily="18" charset="0"/>
                <a:ea typeface="Cambria" panose="02040503050406030204" pitchFamily="18" charset="0"/>
                <a:cs typeface="Cambria"/>
              </a:rPr>
              <a:t>Problem</a:t>
            </a:r>
            <a:r>
              <a:rPr sz="2400" spc="-50"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Statement</a:t>
            </a:r>
            <a:r>
              <a:rPr lang="en-US" sz="2400" spc="-10" dirty="0">
                <a:latin typeface="Cambria" panose="02040503050406030204" pitchFamily="18" charset="0"/>
                <a:ea typeface="Cambria" panose="02040503050406030204" pitchFamily="18" charset="0"/>
                <a:cs typeface="Cambria"/>
              </a:rPr>
              <a:t>(</a:t>
            </a:r>
            <a:r>
              <a:rPr lang="en-US" sz="2400" dirty="0">
                <a:latin typeface="Cambria" panose="02040503050406030204" pitchFamily="18" charset="0"/>
                <a:ea typeface="Cambria" panose="02040503050406030204" pitchFamily="18" charset="0"/>
              </a:rPr>
              <a:t>Software</a:t>
            </a:r>
            <a:r>
              <a:rPr lang="en-US" sz="2400" spc="-5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Requirements</a:t>
            </a:r>
            <a:r>
              <a:rPr lang="en-US" sz="2400" spc="-10" dirty="0">
                <a:latin typeface="Cambria" panose="02040503050406030204" pitchFamily="18" charset="0"/>
                <a:ea typeface="Cambria" panose="02040503050406030204" pitchFamily="18" charset="0"/>
                <a:cs typeface="Cambria"/>
              </a:rPr>
              <a:t>)</a:t>
            </a:r>
          </a:p>
          <a:p>
            <a:pPr marL="354965" indent="-342265">
              <a:lnSpc>
                <a:spcPct val="100000"/>
              </a:lnSpc>
              <a:buSzPct val="150000"/>
              <a:buFont typeface="Arial MT"/>
              <a:buChar char="•"/>
              <a:tabLst>
                <a:tab pos="354965" algn="l"/>
              </a:tabLst>
            </a:pPr>
            <a:endParaRPr lang="en-US" sz="2400" spc="-10" dirty="0">
              <a:latin typeface="Cambria" panose="02040503050406030204" pitchFamily="18" charset="0"/>
              <a:ea typeface="Cambria" panose="02040503050406030204" pitchFamily="18" charset="0"/>
              <a:cs typeface="Cambria"/>
            </a:endParaRPr>
          </a:p>
          <a:p>
            <a:pPr marL="354965" indent="-342265">
              <a:buSzPct val="150000"/>
              <a:buFont typeface="Arial MT"/>
              <a:buChar char="•"/>
              <a:tabLst>
                <a:tab pos="354965" algn="l"/>
              </a:tabLst>
            </a:pPr>
            <a:r>
              <a:rPr lang="en-US" sz="2400" dirty="0">
                <a:latin typeface="Cambria" panose="02040503050406030204" pitchFamily="18" charset="0"/>
                <a:ea typeface="Cambria" panose="02040503050406030204" pitchFamily="18" charset="0"/>
                <a:cs typeface="Cambria"/>
              </a:rPr>
              <a:t>Analysis</a:t>
            </a:r>
            <a:r>
              <a:rPr lang="en-US" sz="2400" spc="-50" dirty="0">
                <a:latin typeface="Cambria" panose="02040503050406030204" pitchFamily="18" charset="0"/>
                <a:ea typeface="Cambria" panose="02040503050406030204" pitchFamily="18" charset="0"/>
                <a:cs typeface="Cambria"/>
              </a:rPr>
              <a:t> </a:t>
            </a:r>
            <a:r>
              <a:rPr lang="en-US" sz="2400" dirty="0">
                <a:latin typeface="Cambria" panose="02040503050406030204" pitchFamily="18" charset="0"/>
                <a:ea typeface="Cambria" panose="02040503050406030204" pitchFamily="18" charset="0"/>
                <a:cs typeface="Cambria"/>
              </a:rPr>
              <a:t>of</a:t>
            </a:r>
            <a:r>
              <a:rPr lang="en-US" sz="2400" spc="-50" dirty="0">
                <a:latin typeface="Cambria" panose="02040503050406030204" pitchFamily="18" charset="0"/>
                <a:ea typeface="Cambria" panose="02040503050406030204" pitchFamily="18" charset="0"/>
                <a:cs typeface="Cambria"/>
              </a:rPr>
              <a:t> </a:t>
            </a:r>
            <a:r>
              <a:rPr lang="en-US" sz="2400" dirty="0">
                <a:latin typeface="Cambria" panose="02040503050406030204" pitchFamily="18" charset="0"/>
                <a:ea typeface="Cambria" panose="02040503050406030204" pitchFamily="18" charset="0"/>
                <a:cs typeface="Cambria"/>
              </a:rPr>
              <a:t>Problem</a:t>
            </a:r>
            <a:r>
              <a:rPr lang="en-US" sz="2400" spc="-50" dirty="0">
                <a:latin typeface="Cambria" panose="02040503050406030204" pitchFamily="18" charset="0"/>
                <a:ea typeface="Cambria" panose="02040503050406030204" pitchFamily="18" charset="0"/>
                <a:cs typeface="Cambria"/>
              </a:rPr>
              <a:t> </a:t>
            </a:r>
            <a:r>
              <a:rPr lang="en-US" sz="2400" spc="-10" dirty="0">
                <a:latin typeface="Cambria" panose="02040503050406030204" pitchFamily="18" charset="0"/>
                <a:ea typeface="Cambria" panose="02040503050406030204" pitchFamily="18" charset="0"/>
                <a:cs typeface="Cambria"/>
              </a:rPr>
              <a:t>Statement(Hardware</a:t>
            </a:r>
            <a:r>
              <a:rPr lang="en-US" sz="2400" spc="-5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Requirements</a:t>
            </a:r>
            <a:r>
              <a:rPr lang="en-US" sz="2400" spc="-10" dirty="0">
                <a:latin typeface="Cambria" panose="02040503050406030204" pitchFamily="18" charset="0"/>
                <a:ea typeface="Cambria" panose="02040503050406030204" pitchFamily="18" charset="0"/>
                <a:cs typeface="Cambria"/>
              </a:rPr>
              <a:t>)</a:t>
            </a:r>
            <a:endParaRPr sz="2400" dirty="0">
              <a:latin typeface="Cambria" panose="02040503050406030204" pitchFamily="18" charset="0"/>
              <a:ea typeface="Cambria" panose="02040503050406030204" pitchFamily="18" charset="0"/>
              <a:cs typeface="Cambria"/>
            </a:endParaRPr>
          </a:p>
          <a:p>
            <a:pPr>
              <a:lnSpc>
                <a:spcPct val="100000"/>
              </a:lnSpc>
              <a:spcBef>
                <a:spcPts val="45"/>
              </a:spcBef>
              <a:buFont typeface="Arial MT"/>
              <a:buChar char="•"/>
            </a:pPr>
            <a:endParaRPr sz="2400" dirty="0">
              <a:latin typeface="Cambria" panose="02040503050406030204" pitchFamily="18" charset="0"/>
              <a:ea typeface="Cambria" panose="02040503050406030204" pitchFamily="18" charset="0"/>
              <a:cs typeface="Cambria"/>
            </a:endParaRPr>
          </a:p>
          <a:p>
            <a:pPr marL="354965" indent="-342265">
              <a:lnSpc>
                <a:spcPct val="100000"/>
              </a:lnSpc>
              <a:buSzPct val="150000"/>
              <a:buFont typeface="Arial MT"/>
              <a:buChar char="•"/>
              <a:tabLst>
                <a:tab pos="354965" algn="l"/>
              </a:tabLst>
            </a:pPr>
            <a:r>
              <a:rPr sz="2400" dirty="0">
                <a:latin typeface="Cambria" panose="02040503050406030204" pitchFamily="18" charset="0"/>
                <a:ea typeface="Cambria" panose="02040503050406030204" pitchFamily="18" charset="0"/>
                <a:cs typeface="Cambria"/>
              </a:rPr>
              <a:t>Innovation</a:t>
            </a:r>
            <a:r>
              <a:rPr sz="2400" spc="-45" dirty="0">
                <a:latin typeface="Cambria" panose="02040503050406030204" pitchFamily="18" charset="0"/>
                <a:ea typeface="Cambria" panose="02040503050406030204" pitchFamily="18" charset="0"/>
                <a:cs typeface="Cambria"/>
              </a:rPr>
              <a:t> </a:t>
            </a:r>
            <a:r>
              <a:rPr sz="2400" dirty="0">
                <a:latin typeface="Cambria" panose="02040503050406030204" pitchFamily="18" charset="0"/>
                <a:ea typeface="Cambria" panose="02040503050406030204" pitchFamily="18" charset="0"/>
                <a:cs typeface="Cambria"/>
              </a:rPr>
              <a:t>or</a:t>
            </a:r>
            <a:r>
              <a:rPr sz="2400" spc="-50" dirty="0">
                <a:latin typeface="Cambria" panose="02040503050406030204" pitchFamily="18" charset="0"/>
                <a:ea typeface="Cambria" panose="02040503050406030204" pitchFamily="18" charset="0"/>
                <a:cs typeface="Cambria"/>
              </a:rPr>
              <a:t> </a:t>
            </a:r>
            <a:r>
              <a:rPr sz="2400" dirty="0">
                <a:latin typeface="Cambria" panose="02040503050406030204" pitchFamily="18" charset="0"/>
                <a:ea typeface="Cambria" panose="02040503050406030204" pitchFamily="18" charset="0"/>
                <a:cs typeface="Cambria"/>
              </a:rPr>
              <a:t>Novel</a:t>
            </a:r>
            <a:r>
              <a:rPr sz="2400" spc="-45" dirty="0">
                <a:latin typeface="Cambria" panose="02040503050406030204" pitchFamily="18" charset="0"/>
                <a:ea typeface="Cambria" panose="02040503050406030204" pitchFamily="18" charset="0"/>
                <a:cs typeface="Cambria"/>
              </a:rPr>
              <a:t> </a:t>
            </a:r>
            <a:r>
              <a:rPr sz="2400" spc="-10" dirty="0">
                <a:latin typeface="Cambria" panose="02040503050406030204" pitchFamily="18" charset="0"/>
                <a:ea typeface="Cambria" panose="02040503050406030204" pitchFamily="18" charset="0"/>
                <a:cs typeface="Cambria"/>
              </a:rPr>
              <a:t>Contributions</a:t>
            </a:r>
            <a:endParaRPr lang="en-US" sz="2400" spc="-10" dirty="0">
              <a:latin typeface="Cambria" panose="02040503050406030204" pitchFamily="18" charset="0"/>
              <a:ea typeface="Cambria" panose="02040503050406030204" pitchFamily="18" charset="0"/>
              <a:cs typeface="Cambria"/>
            </a:endParaRPr>
          </a:p>
          <a:p>
            <a:pPr marL="354965" indent="-342265">
              <a:lnSpc>
                <a:spcPct val="100000"/>
              </a:lnSpc>
              <a:buSzPct val="150000"/>
              <a:buFont typeface="Arial MT"/>
              <a:buChar char="•"/>
              <a:tabLst>
                <a:tab pos="354965" algn="l"/>
              </a:tabLst>
            </a:pPr>
            <a:endParaRPr lang="en-US" sz="2400" spc="-10" dirty="0">
              <a:latin typeface="Cambria" panose="02040503050406030204" pitchFamily="18" charset="0"/>
              <a:ea typeface="Cambria" panose="02040503050406030204" pitchFamily="18" charset="0"/>
              <a:cs typeface="Cambria"/>
            </a:endParaRPr>
          </a:p>
          <a:p>
            <a:pPr marL="354965" indent="-342265">
              <a:lnSpc>
                <a:spcPct val="100000"/>
              </a:lnSpc>
              <a:buSzPct val="150000"/>
              <a:buFont typeface="Arial MT"/>
              <a:buChar char="•"/>
              <a:tabLst>
                <a:tab pos="354965" algn="l"/>
              </a:tabLst>
            </a:pPr>
            <a:r>
              <a:rPr lang="en-US" sz="2400" spc="-10" dirty="0">
                <a:latin typeface="Cambria" panose="02040503050406030204" pitchFamily="18" charset="0"/>
                <a:ea typeface="Cambria" panose="02040503050406030204" pitchFamily="18" charset="0"/>
                <a:cs typeface="Cambria"/>
              </a:rPr>
              <a:t>Flow Diagram </a:t>
            </a:r>
          </a:p>
          <a:p>
            <a:pPr marL="354965" indent="-342265">
              <a:lnSpc>
                <a:spcPct val="100000"/>
              </a:lnSpc>
              <a:buSzPct val="150000"/>
              <a:buFont typeface="Arial MT"/>
              <a:buChar char="•"/>
              <a:tabLst>
                <a:tab pos="354965" algn="l"/>
              </a:tabLst>
            </a:pPr>
            <a:endParaRPr lang="en-US" sz="2400" spc="-10" dirty="0">
              <a:latin typeface="Cambria" panose="02040503050406030204" pitchFamily="18" charset="0"/>
              <a:ea typeface="Cambria" panose="02040503050406030204" pitchFamily="18" charset="0"/>
              <a:cs typeface="Cambria"/>
            </a:endParaRPr>
          </a:p>
          <a:p>
            <a:pPr marL="354965" indent="-342265">
              <a:lnSpc>
                <a:spcPct val="100000"/>
              </a:lnSpc>
              <a:buSzPct val="150000"/>
              <a:buFont typeface="Arial MT"/>
              <a:buChar char="•"/>
              <a:tabLst>
                <a:tab pos="354965" algn="l"/>
              </a:tabLst>
            </a:pPr>
            <a:r>
              <a:rPr lang="en-US" sz="2400" dirty="0" smtClean="0">
                <a:latin typeface="Cambria" panose="02040503050406030204" pitchFamily="18" charset="0"/>
                <a:ea typeface="Cambria" panose="02040503050406030204" pitchFamily="18" charset="0"/>
                <a:cs typeface="Cambria"/>
              </a:rPr>
              <a:t>Literature Survey</a:t>
            </a:r>
            <a:endParaRPr sz="2400" dirty="0">
              <a:latin typeface="Cambria" panose="02040503050406030204" pitchFamily="18" charset="0"/>
              <a:ea typeface="Cambria" panose="02040503050406030204" pitchFamily="18" charset="0"/>
              <a:cs typeface="Cambria"/>
            </a:endParaRPr>
          </a:p>
          <a:p>
            <a:pPr>
              <a:lnSpc>
                <a:spcPct val="100000"/>
              </a:lnSpc>
              <a:spcBef>
                <a:spcPts val="45"/>
              </a:spcBef>
              <a:buFont typeface="Arial MT"/>
              <a:buChar char="•"/>
            </a:pPr>
            <a:endParaRPr sz="2400" dirty="0">
              <a:latin typeface="Cambria" panose="02040503050406030204" pitchFamily="18" charset="0"/>
              <a:ea typeface="Cambria" panose="02040503050406030204" pitchFamily="18" charset="0"/>
              <a:cs typeface="Cambria"/>
            </a:endParaRPr>
          </a:p>
          <a:p>
            <a:pPr>
              <a:lnSpc>
                <a:spcPct val="100000"/>
              </a:lnSpc>
              <a:spcBef>
                <a:spcPts val="40"/>
              </a:spcBef>
            </a:pPr>
            <a:endParaRPr sz="2400" dirty="0">
              <a:latin typeface="Cambria" panose="02040503050406030204" pitchFamily="18" charset="0"/>
              <a:ea typeface="Cambria" panose="02040503050406030204" pitchFamily="18" charset="0"/>
              <a:cs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Problem</a:t>
            </a:r>
            <a:r>
              <a:rPr spc="-75" dirty="0"/>
              <a:t> </a:t>
            </a:r>
            <a:r>
              <a:rPr dirty="0"/>
              <a:t>Statement</a:t>
            </a:r>
            <a:r>
              <a:rPr spc="-75" dirty="0"/>
              <a:t> </a:t>
            </a:r>
            <a:r>
              <a:rPr spc="-50" dirty="0"/>
              <a:t>:</a:t>
            </a:r>
          </a:p>
        </p:txBody>
      </p:sp>
      <p:sp>
        <p:nvSpPr>
          <p:cNvPr id="3" name="object 3"/>
          <p:cNvSpPr txBox="1">
            <a:spLocks noGrp="1"/>
          </p:cNvSpPr>
          <p:nvPr>
            <p:ph type="body" idx="1"/>
          </p:nvPr>
        </p:nvSpPr>
        <p:spPr>
          <a:xfrm>
            <a:off x="762000" y="1169669"/>
            <a:ext cx="10640695" cy="5372625"/>
          </a:xfrm>
          <a:prstGeom prst="rect">
            <a:avLst/>
          </a:prstGeom>
        </p:spPr>
        <p:txBody>
          <a:bodyPr vert="horz" wrap="square" lIns="0" tIns="12065" rIns="0" bIns="0" rtlCol="0">
            <a:spAutoFit/>
          </a:bodyPr>
          <a:lstStyle/>
          <a:p>
            <a:pPr marL="12700">
              <a:lnSpc>
                <a:spcPct val="100000"/>
              </a:lnSpc>
              <a:spcBef>
                <a:spcPts val="95"/>
              </a:spcBef>
            </a:pPr>
            <a:r>
              <a:rPr sz="1800" b="1" dirty="0">
                <a:latin typeface="Cambria"/>
                <a:cs typeface="Cambria"/>
              </a:rPr>
              <a:t>Organization:</a:t>
            </a:r>
            <a:r>
              <a:rPr sz="1800" b="1" spc="-55" dirty="0">
                <a:latin typeface="Cambria"/>
                <a:cs typeface="Cambria"/>
              </a:rPr>
              <a:t> </a:t>
            </a:r>
            <a:r>
              <a:rPr lang="en-IN" sz="1800" spc="-55" dirty="0">
                <a:latin typeface="Cambria"/>
                <a:cs typeface="Cambria"/>
              </a:rPr>
              <a:t>Smart Automation</a:t>
            </a:r>
            <a:endParaRPr sz="1800" spc="-10" dirty="0">
              <a:latin typeface="Cambria"/>
              <a:cs typeface="Cambria"/>
            </a:endParaRPr>
          </a:p>
          <a:p>
            <a:pPr marL="12700">
              <a:lnSpc>
                <a:spcPct val="100000"/>
              </a:lnSpc>
              <a:spcBef>
                <a:spcPts val="1600"/>
              </a:spcBef>
            </a:pPr>
            <a:r>
              <a:rPr sz="1800" b="1" dirty="0">
                <a:latin typeface="Cambria"/>
                <a:cs typeface="Cambria"/>
              </a:rPr>
              <a:t>Category</a:t>
            </a:r>
            <a:r>
              <a:rPr sz="1800" b="1" spc="-35" dirty="0">
                <a:latin typeface="Cambria"/>
                <a:cs typeface="Cambria"/>
              </a:rPr>
              <a:t> </a:t>
            </a:r>
            <a:r>
              <a:rPr sz="1800" b="1" dirty="0">
                <a:latin typeface="Cambria"/>
                <a:cs typeface="Cambria"/>
              </a:rPr>
              <a:t>:</a:t>
            </a:r>
            <a:r>
              <a:rPr sz="1800" b="1" spc="-35" dirty="0">
                <a:latin typeface="Cambria"/>
                <a:cs typeface="Cambria"/>
              </a:rPr>
              <a:t> </a:t>
            </a:r>
            <a:r>
              <a:rPr sz="1800" spc="-10" dirty="0">
                <a:latin typeface="Cambria"/>
                <a:cs typeface="Cambria"/>
              </a:rPr>
              <a:t>Software</a:t>
            </a:r>
          </a:p>
          <a:p>
            <a:pPr>
              <a:lnSpc>
                <a:spcPct val="150000"/>
              </a:lnSpc>
            </a:pPr>
            <a:r>
              <a:rPr sz="1800" b="1" dirty="0" smtClean="0">
                <a:latin typeface="Cambria"/>
                <a:cs typeface="Cambria"/>
              </a:rPr>
              <a:t>Problem</a:t>
            </a:r>
            <a:r>
              <a:rPr sz="1800" b="1" spc="250" dirty="0" smtClean="0">
                <a:latin typeface="Cambria"/>
                <a:cs typeface="Cambria"/>
              </a:rPr>
              <a:t> </a:t>
            </a:r>
            <a:r>
              <a:rPr sz="1800" b="1" dirty="0" smtClean="0">
                <a:latin typeface="Cambria"/>
                <a:cs typeface="Cambria"/>
              </a:rPr>
              <a:t>Description:</a:t>
            </a:r>
            <a:r>
              <a:rPr sz="1800" b="1" spc="254" dirty="0" smtClean="0">
                <a:latin typeface="Cambria"/>
                <a:cs typeface="Cambria"/>
              </a:rPr>
              <a:t> </a:t>
            </a:r>
            <a:r>
              <a:rPr lang="en-US" dirty="0" smtClean="0">
                <a:latin typeface="Cambria" panose="02040503050406030204" pitchFamily="18" charset="0"/>
                <a:ea typeface="Cambria" panose="02040503050406030204" pitchFamily="18" charset="0"/>
                <a:cs typeface="Times New Roman" panose="02020603050405020304" pitchFamily="18" charset="0"/>
              </a:rPr>
              <a:t>The rapid growth of digital education platforms has transformed the learning environment, but many existing e-learning systems still suffer from several major limitations. Most traditional platforms mainly focus on delivering static educational content and fail to provide interactive, engaging, and motivating learning experiences for students.</a:t>
            </a:r>
          </a:p>
          <a:p>
            <a:r>
              <a:rPr lang="en-US" b="1" dirty="0" smtClean="0">
                <a:latin typeface="Cambria" panose="02040503050406030204" pitchFamily="18" charset="0"/>
                <a:ea typeface="Cambria" panose="02040503050406030204" pitchFamily="18" charset="0"/>
                <a:cs typeface="Times New Roman" panose="02020603050405020304" pitchFamily="18" charset="0"/>
              </a:rPr>
              <a:t>Current learning systems lack:</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Real-time interaction between students and teachers </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Competitive and collaborative learning environments </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Gamification elements such as rewards, badges, and leaderboards </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Student engagement and motivation tracking </a:t>
            </a:r>
          </a:p>
          <a:p>
            <a:r>
              <a:rPr lang="en-US" dirty="0" smtClean="0">
                <a:latin typeface="Cambria" panose="02040503050406030204" pitchFamily="18" charset="0"/>
                <a:ea typeface="Cambria" panose="02040503050406030204" pitchFamily="18" charset="0"/>
                <a:cs typeface="Times New Roman" panose="02020603050405020304" pitchFamily="18" charset="0"/>
              </a:rPr>
              <a:t>Therefore, there is a need for a scalable, secure, and interactive gamified learning platform that combines:</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Real-time communication </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Gamification techniques </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Competitive learning </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Performance analytics </a:t>
            </a:r>
          </a:p>
          <a:p>
            <a:pPr marL="742950" lvl="1" indent="-285750">
              <a:buFont typeface="Arial" panose="020B0604020202020204" pitchFamily="34" charset="0"/>
              <a:buChar char="•"/>
            </a:pPr>
            <a:r>
              <a:rPr lang="en-US" sz="1600" dirty="0" smtClean="0">
                <a:latin typeface="Cambria" panose="02040503050406030204" pitchFamily="18" charset="0"/>
                <a:ea typeface="Cambria" panose="02040503050406030204" pitchFamily="18" charset="0"/>
                <a:cs typeface="Times New Roman" panose="02020603050405020304" pitchFamily="18" charset="0"/>
              </a:rPr>
              <a:t>Multi-user role management </a:t>
            </a:r>
          </a:p>
          <a:p>
            <a:pPr>
              <a:lnSpc>
                <a:spcPct val="150000"/>
              </a:lnSpc>
            </a:pPr>
            <a:endParaRPr lang="en-US"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Objectives</a:t>
            </a:r>
            <a:r>
              <a:rPr spc="-110" dirty="0"/>
              <a:t> </a:t>
            </a:r>
            <a:r>
              <a:rPr spc="-50" dirty="0"/>
              <a:t>:</a:t>
            </a:r>
          </a:p>
        </p:txBody>
      </p:sp>
      <p:sp>
        <p:nvSpPr>
          <p:cNvPr id="9" name="Text Placeholder 8"/>
          <p:cNvSpPr>
            <a:spLocks noGrp="1"/>
          </p:cNvSpPr>
          <p:nvPr>
            <p:ph type="body" idx="1"/>
          </p:nvPr>
        </p:nvSpPr>
        <p:spPr>
          <a:xfrm>
            <a:off x="762000" y="1143000"/>
            <a:ext cx="10359390" cy="4386329"/>
          </a:xfrm>
        </p:spPr>
        <p:txBody>
          <a:bodyPr/>
          <a:lstStyle/>
          <a:p>
            <a:pPr marL="342900" lvl="0" indent="-342900" algn="l" rtl="0" eaLnBrk="0" fontAlgn="base" hangingPunct="0">
              <a:lnSpc>
                <a:spcPct val="150000"/>
              </a:lnSpc>
              <a:spcBef>
                <a:spcPct val="0"/>
              </a:spcBef>
              <a:spcAft>
                <a:spcPct val="0"/>
              </a:spcAft>
              <a:buFont typeface="+mj-lt"/>
              <a:buAutoNum type="arabicPeriod"/>
            </a:pPr>
            <a:r>
              <a:rPr lang="en-US" altLang="en-US" b="1" dirty="0" smtClean="0">
                <a:latin typeface="Cambria" panose="02040503050406030204" pitchFamily="18" charset="0"/>
                <a:ea typeface="Cambria" panose="02040503050406030204" pitchFamily="18" charset="0"/>
              </a:rPr>
              <a:t>Develop </a:t>
            </a:r>
            <a:r>
              <a:rPr lang="en-US" altLang="en-US" b="1" dirty="0">
                <a:latin typeface="Cambria" panose="02040503050406030204" pitchFamily="18" charset="0"/>
                <a:ea typeface="Cambria" panose="02040503050406030204" pitchFamily="18" charset="0"/>
              </a:rPr>
              <a:t>a Gamified Learning Platform</a:t>
            </a:r>
            <a:r>
              <a:rPr lang="en-US" altLang="en-US" dirty="0">
                <a:latin typeface="Cambria" panose="02040503050406030204" pitchFamily="18" charset="0"/>
                <a:ea typeface="Cambria" panose="02040503050406030204" pitchFamily="18" charset="0"/>
              </a:rPr>
              <a:t/>
            </a:r>
            <a:br>
              <a:rPr lang="en-US" altLang="en-US" dirty="0">
                <a:latin typeface="Cambria" panose="02040503050406030204" pitchFamily="18" charset="0"/>
                <a:ea typeface="Cambria" panose="02040503050406030204" pitchFamily="18" charset="0"/>
              </a:rPr>
            </a:br>
            <a:r>
              <a:rPr lang="en-US" altLang="en-US" dirty="0" smtClean="0">
                <a:latin typeface="Cambria" panose="02040503050406030204" pitchFamily="18" charset="0"/>
                <a:ea typeface="Cambria" panose="02040503050406030204" pitchFamily="18" charset="0"/>
              </a:rPr>
              <a:t>Design </a:t>
            </a:r>
            <a:r>
              <a:rPr lang="en-US" altLang="en-US" dirty="0">
                <a:latin typeface="Cambria" panose="02040503050406030204" pitchFamily="18" charset="0"/>
                <a:ea typeface="Cambria" panose="02040503050406030204" pitchFamily="18" charset="0"/>
              </a:rPr>
              <a:t>and develop a complete interactive learning platform that improves student engagement using gamification concepts and competitive learning techniques. </a:t>
            </a:r>
          </a:p>
          <a:p>
            <a:pPr marL="342900" lvl="0" indent="-342900" algn="l" rtl="0" eaLnBrk="0" fontAlgn="base" hangingPunct="0">
              <a:lnSpc>
                <a:spcPct val="150000"/>
              </a:lnSpc>
              <a:spcBef>
                <a:spcPct val="0"/>
              </a:spcBef>
              <a:spcAft>
                <a:spcPct val="0"/>
              </a:spcAft>
              <a:buFont typeface="+mj-lt"/>
              <a:buAutoNum type="arabicPeriod"/>
            </a:pPr>
            <a:r>
              <a:rPr lang="en-US" altLang="en-US" b="1" dirty="0">
                <a:latin typeface="Cambria" panose="02040503050406030204" pitchFamily="18" charset="0"/>
                <a:ea typeface="Cambria" panose="02040503050406030204" pitchFamily="18" charset="0"/>
              </a:rPr>
              <a:t>Implement Multi-Role User Management</a:t>
            </a:r>
            <a:r>
              <a:rPr lang="en-US" altLang="en-US" dirty="0">
                <a:latin typeface="Cambria" panose="02040503050406030204" pitchFamily="18" charset="0"/>
                <a:ea typeface="Cambria" panose="02040503050406030204" pitchFamily="18" charset="0"/>
              </a:rPr>
              <a:t/>
            </a:r>
            <a:br>
              <a:rPr lang="en-US" altLang="en-US" dirty="0">
                <a:latin typeface="Cambria" panose="02040503050406030204" pitchFamily="18" charset="0"/>
                <a:ea typeface="Cambria" panose="02040503050406030204" pitchFamily="18" charset="0"/>
              </a:rPr>
            </a:br>
            <a:r>
              <a:rPr lang="en-US" altLang="en-US" dirty="0" smtClean="0">
                <a:latin typeface="Cambria" panose="02040503050406030204" pitchFamily="18" charset="0"/>
                <a:ea typeface="Cambria" panose="02040503050406030204" pitchFamily="18" charset="0"/>
              </a:rPr>
              <a:t>Provide </a:t>
            </a:r>
            <a:r>
              <a:rPr lang="en-US" altLang="en-US" dirty="0">
                <a:latin typeface="Cambria" panose="02040503050406030204" pitchFamily="18" charset="0"/>
                <a:ea typeface="Cambria" panose="02040503050406030204" pitchFamily="18" charset="0"/>
              </a:rPr>
              <a:t>separate functionalities and dashboards for students, teachers, and administrators through role-based access control mechanisms. </a:t>
            </a:r>
          </a:p>
          <a:p>
            <a:pPr marL="342900" lvl="0" indent="-342900" algn="l" rtl="0" eaLnBrk="0" fontAlgn="base" hangingPunct="0">
              <a:lnSpc>
                <a:spcPct val="150000"/>
              </a:lnSpc>
              <a:spcBef>
                <a:spcPct val="0"/>
              </a:spcBef>
              <a:spcAft>
                <a:spcPct val="0"/>
              </a:spcAft>
              <a:buFont typeface="+mj-lt"/>
              <a:buAutoNum type="arabicPeriod"/>
            </a:pPr>
            <a:r>
              <a:rPr lang="en-US" altLang="en-US" b="1" dirty="0">
                <a:latin typeface="Cambria" panose="02040503050406030204" pitchFamily="18" charset="0"/>
                <a:ea typeface="Cambria" panose="02040503050406030204" pitchFamily="18" charset="0"/>
              </a:rPr>
              <a:t>Integrate Interactive Quiz and Tournament System</a:t>
            </a:r>
            <a:r>
              <a:rPr lang="en-US" altLang="en-US" dirty="0">
                <a:latin typeface="Cambria" panose="02040503050406030204" pitchFamily="18" charset="0"/>
                <a:ea typeface="Cambria" panose="02040503050406030204" pitchFamily="18" charset="0"/>
              </a:rPr>
              <a:t/>
            </a:r>
            <a:br>
              <a:rPr lang="en-US" altLang="en-US" dirty="0">
                <a:latin typeface="Cambria" panose="02040503050406030204" pitchFamily="18" charset="0"/>
                <a:ea typeface="Cambria" panose="02040503050406030204" pitchFamily="18" charset="0"/>
              </a:rPr>
            </a:br>
            <a:r>
              <a:rPr lang="en-US" altLang="en-US" dirty="0">
                <a:latin typeface="Cambria" panose="02040503050406030204" pitchFamily="18" charset="0"/>
                <a:ea typeface="Cambria" panose="02040503050406030204" pitchFamily="18" charset="0"/>
              </a:rPr>
              <a:t>Develop quiz modules, real-time duels, tournaments, and challenge-based activities to create an engaging learning experience. </a:t>
            </a:r>
          </a:p>
          <a:p>
            <a:pPr marL="342900" lvl="0" indent="-342900" algn="l" rtl="0" eaLnBrk="0" fontAlgn="base" hangingPunct="0">
              <a:lnSpc>
                <a:spcPct val="150000"/>
              </a:lnSpc>
              <a:spcBef>
                <a:spcPct val="0"/>
              </a:spcBef>
              <a:spcAft>
                <a:spcPct val="0"/>
              </a:spcAft>
              <a:buFont typeface="+mj-lt"/>
              <a:buAutoNum type="arabicPeriod"/>
            </a:pPr>
            <a:r>
              <a:rPr lang="en-US" altLang="en-US" b="1" dirty="0">
                <a:latin typeface="Cambria" panose="02040503050406030204" pitchFamily="18" charset="0"/>
                <a:ea typeface="Cambria" panose="02040503050406030204" pitchFamily="18" charset="0"/>
              </a:rPr>
              <a:t>Enable Real-Time Communication and Interaction</a:t>
            </a:r>
            <a:r>
              <a:rPr lang="en-US" altLang="en-US" dirty="0">
                <a:latin typeface="Cambria" panose="02040503050406030204" pitchFamily="18" charset="0"/>
                <a:ea typeface="Cambria" panose="02040503050406030204" pitchFamily="18" charset="0"/>
              </a:rPr>
              <a:t/>
            </a:r>
            <a:br>
              <a:rPr lang="en-US" altLang="en-US" dirty="0">
                <a:latin typeface="Cambria" panose="02040503050406030204" pitchFamily="18" charset="0"/>
                <a:ea typeface="Cambria" panose="02040503050406030204" pitchFamily="18" charset="0"/>
              </a:rPr>
            </a:br>
            <a:r>
              <a:rPr lang="en-US" altLang="en-US" dirty="0">
                <a:latin typeface="Cambria" panose="02040503050406030204" pitchFamily="18" charset="0"/>
                <a:ea typeface="Cambria" panose="02040503050406030204" pitchFamily="18" charset="0"/>
              </a:rPr>
              <a:t>Implement live notifications, quiz duels, real-time score updates, and instant communication using Socket.io technology.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Objectives</a:t>
            </a:r>
            <a:r>
              <a:rPr spc="-110" dirty="0"/>
              <a:t> </a:t>
            </a:r>
            <a:r>
              <a:rPr spc="-50" dirty="0"/>
              <a:t>:</a:t>
            </a:r>
          </a:p>
        </p:txBody>
      </p:sp>
      <p:sp>
        <p:nvSpPr>
          <p:cNvPr id="4" name="Rectangle 1"/>
          <p:cNvSpPr>
            <a:spLocks noGrp="1" noChangeArrowheads="1"/>
          </p:cNvSpPr>
          <p:nvPr>
            <p:ph type="body" idx="1"/>
          </p:nvPr>
        </p:nvSpPr>
        <p:spPr bwMode="auto">
          <a:xfrm>
            <a:off x="762000" y="1143000"/>
            <a:ext cx="10744200" cy="4109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startAt="5"/>
              <a:tabLst/>
            </a:pPr>
            <a:r>
              <a:rPr kumimoji="0" lang="en-US" alt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Incorporate Gamification Features</a:t>
            </a: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r>
            <a:b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Integrate badges, leaderboards, achievements, rewards, and ranking systems to motivate students and encourage active participation.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startAt="5"/>
              <a:tabLst/>
            </a:pPr>
            <a:r>
              <a:rPr kumimoji="0" lang="en-US" alt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Ensure Secure Authentication and Data Management</a:t>
            </a: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r>
            <a:b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Implement JWT-based authentication and secure database management for safe access and protected communication.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startAt="5"/>
              <a:tabLst/>
            </a:pPr>
            <a:r>
              <a:rPr kumimoji="0" lang="en-US" alt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Track Student Performance and Analytics</a:t>
            </a: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r>
            <a:b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Provide performance monitoring, progress tracking, leaderboard analysis, and activity evaluation for effective learning assessment.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startAt="5"/>
              <a:tabLst/>
            </a:pPr>
            <a:r>
              <a:rPr kumimoji="0" lang="en-US" alt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Develop a Scalable Cross-Platform System</a:t>
            </a: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r>
            <a:b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Build a responsive and scalable application accessible through both web and mobile platforms using modern full-stack technologies.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0">
              <a:lnSpc>
                <a:spcPct val="100000"/>
              </a:lnSpc>
              <a:spcBef>
                <a:spcPts val="95"/>
              </a:spcBef>
            </a:pPr>
            <a:r>
              <a:rPr dirty="0"/>
              <a:t>Analysis</a:t>
            </a:r>
            <a:r>
              <a:rPr spc="-70" dirty="0"/>
              <a:t> </a:t>
            </a:r>
            <a:r>
              <a:rPr dirty="0"/>
              <a:t>of</a:t>
            </a:r>
            <a:r>
              <a:rPr spc="-65" dirty="0"/>
              <a:t> </a:t>
            </a:r>
            <a:r>
              <a:rPr dirty="0"/>
              <a:t>Problem</a:t>
            </a:r>
            <a:r>
              <a:rPr spc="-65" dirty="0"/>
              <a:t> </a:t>
            </a:r>
            <a:r>
              <a:rPr dirty="0"/>
              <a:t>Statement</a:t>
            </a:r>
            <a:r>
              <a:rPr spc="-65" dirty="0"/>
              <a:t> </a:t>
            </a:r>
            <a:r>
              <a:rPr sz="2000" dirty="0"/>
              <a:t>(</a:t>
            </a:r>
            <a:r>
              <a:rPr sz="2000" spc="-50" dirty="0"/>
              <a:t> </a:t>
            </a:r>
            <a:r>
              <a:rPr sz="2000" dirty="0"/>
              <a:t>Software</a:t>
            </a:r>
            <a:r>
              <a:rPr sz="2000" spc="-50" dirty="0"/>
              <a:t> </a:t>
            </a:r>
            <a:r>
              <a:rPr sz="2000" dirty="0"/>
              <a:t>Requirements</a:t>
            </a:r>
            <a:r>
              <a:rPr sz="2000" spc="-50" dirty="0"/>
              <a:t> )</a:t>
            </a:r>
            <a:endParaRPr sz="2000" dirty="0"/>
          </a:p>
        </p:txBody>
      </p:sp>
      <p:sp>
        <p:nvSpPr>
          <p:cNvPr id="3" name="object 3"/>
          <p:cNvSpPr txBox="1"/>
          <p:nvPr/>
        </p:nvSpPr>
        <p:spPr>
          <a:xfrm>
            <a:off x="1043305" y="1169669"/>
            <a:ext cx="8389620" cy="4828886"/>
          </a:xfrm>
          <a:prstGeom prst="rect">
            <a:avLst/>
          </a:prstGeom>
        </p:spPr>
        <p:txBody>
          <a:bodyPr vert="horz" wrap="square" lIns="0" tIns="12065" rIns="0" bIns="0" rtlCol="0">
            <a:spAutoFit/>
          </a:bodyPr>
          <a:lstStyle/>
          <a:p>
            <a:pPr marL="12700">
              <a:spcBef>
                <a:spcPts val="95"/>
              </a:spcBef>
            </a:pPr>
            <a:r>
              <a:rPr sz="1600" b="1" dirty="0">
                <a:latin typeface="Cambria"/>
                <a:cs typeface="Cambria"/>
              </a:rPr>
              <a:t>1</a:t>
            </a:r>
            <a:r>
              <a:rPr sz="1600" b="1" spc="-10" dirty="0">
                <a:latin typeface="Cambria"/>
                <a:cs typeface="Cambria"/>
              </a:rPr>
              <a:t> Frontend</a:t>
            </a:r>
            <a:endParaRPr sz="1600" dirty="0">
              <a:latin typeface="Cambria"/>
              <a:cs typeface="Cambria"/>
            </a:endParaRPr>
          </a:p>
          <a:p>
            <a:pPr marL="298450" indent="-285750">
              <a:buFont typeface="Arial" panose="020B0604020202020204" pitchFamily="34" charset="0"/>
              <a:buChar char="•"/>
              <a:tabLst>
                <a:tab pos="354965" algn="l"/>
              </a:tabLst>
            </a:pPr>
            <a:r>
              <a:rPr lang="en-IN" sz="1600" dirty="0" smtClean="0"/>
              <a:t>React.js</a:t>
            </a:r>
          </a:p>
          <a:p>
            <a:pPr marL="298450" indent="-285750">
              <a:buFont typeface="Arial" panose="020B0604020202020204" pitchFamily="34" charset="0"/>
              <a:buChar char="•"/>
              <a:tabLst>
                <a:tab pos="354965" algn="l"/>
              </a:tabLst>
            </a:pPr>
            <a:r>
              <a:rPr lang="en-IN" sz="1600" dirty="0" smtClean="0"/>
              <a:t>React Native</a:t>
            </a:r>
          </a:p>
          <a:p>
            <a:pPr marL="298450" indent="-285750">
              <a:buFont typeface="Arial" panose="020B0604020202020204" pitchFamily="34" charset="0"/>
              <a:buChar char="•"/>
              <a:tabLst>
                <a:tab pos="354965" algn="l"/>
              </a:tabLst>
            </a:pPr>
            <a:r>
              <a:rPr lang="en-IN" sz="1600" dirty="0" smtClean="0"/>
              <a:t>HTML</a:t>
            </a:r>
          </a:p>
          <a:p>
            <a:pPr marL="298450" indent="-285750">
              <a:buFont typeface="Arial" panose="020B0604020202020204" pitchFamily="34" charset="0"/>
              <a:buChar char="•"/>
              <a:tabLst>
                <a:tab pos="354965" algn="l"/>
              </a:tabLst>
            </a:pPr>
            <a:r>
              <a:rPr lang="en-IN" sz="1600" dirty="0" smtClean="0"/>
              <a:t>CSS</a:t>
            </a:r>
          </a:p>
          <a:p>
            <a:pPr marL="298450" indent="-285750">
              <a:buFont typeface="Arial" panose="020B0604020202020204" pitchFamily="34" charset="0"/>
              <a:buChar char="•"/>
              <a:tabLst>
                <a:tab pos="354965" algn="l"/>
              </a:tabLst>
            </a:pPr>
            <a:r>
              <a:rPr lang="en-IN" sz="1600" dirty="0" smtClean="0"/>
              <a:t>JavaScript</a:t>
            </a:r>
          </a:p>
          <a:p>
            <a:pPr marL="12700">
              <a:spcBef>
                <a:spcPts val="5"/>
              </a:spcBef>
            </a:pPr>
            <a:r>
              <a:rPr sz="1600" b="1" dirty="0" smtClean="0">
                <a:latin typeface="Cambria"/>
                <a:cs typeface="Cambria"/>
              </a:rPr>
              <a:t>2</a:t>
            </a:r>
            <a:r>
              <a:rPr sz="1600" b="1" spc="-10" dirty="0" smtClean="0">
                <a:latin typeface="Cambria"/>
                <a:cs typeface="Cambria"/>
              </a:rPr>
              <a:t> </a:t>
            </a:r>
            <a:r>
              <a:rPr sz="1600" b="1" spc="-10" dirty="0">
                <a:latin typeface="Cambria"/>
                <a:cs typeface="Cambria"/>
              </a:rPr>
              <a:t>Backend</a:t>
            </a:r>
            <a:endParaRPr sz="1600" dirty="0">
              <a:latin typeface="Cambria"/>
              <a:cs typeface="Cambria"/>
            </a:endParaRPr>
          </a:p>
          <a:p>
            <a:pPr marL="354965" indent="-342265">
              <a:buFont typeface="Arial MT"/>
              <a:buChar char="•"/>
              <a:tabLst>
                <a:tab pos="354965" algn="l"/>
              </a:tabLst>
            </a:pPr>
            <a:r>
              <a:rPr lang="en-IN" sz="1600" dirty="0" smtClean="0"/>
              <a:t>Express.js</a:t>
            </a:r>
            <a:endParaRPr lang="en-US" sz="1600" spc="-20" dirty="0" smtClean="0">
              <a:latin typeface="Cambria"/>
              <a:cs typeface="Cambria"/>
            </a:endParaRPr>
          </a:p>
          <a:p>
            <a:pPr marL="354965" indent="-342265">
              <a:buFont typeface="Arial MT"/>
              <a:buChar char="•"/>
              <a:tabLst>
                <a:tab pos="354965" algn="l"/>
              </a:tabLst>
            </a:pPr>
            <a:r>
              <a:rPr lang="en-IN" sz="1600" dirty="0" smtClean="0"/>
              <a:t>Node.js</a:t>
            </a:r>
            <a:endParaRPr sz="1600" dirty="0">
              <a:latin typeface="Cambria"/>
              <a:cs typeface="Cambria"/>
            </a:endParaRPr>
          </a:p>
          <a:p>
            <a:pPr marL="12700"/>
            <a:r>
              <a:rPr sz="1600" b="1" dirty="0" smtClean="0">
                <a:latin typeface="Cambria"/>
                <a:cs typeface="Cambria"/>
              </a:rPr>
              <a:t>3</a:t>
            </a:r>
            <a:r>
              <a:rPr sz="1600" b="1" spc="-25" dirty="0" smtClean="0">
                <a:latin typeface="Cambria"/>
                <a:cs typeface="Cambria"/>
              </a:rPr>
              <a:t> </a:t>
            </a:r>
            <a:r>
              <a:rPr lang="en-IN" sz="1600" b="1" dirty="0" smtClean="0"/>
              <a:t>Real-Time Communication</a:t>
            </a:r>
          </a:p>
          <a:p>
            <a:pPr marL="298450" indent="-285750">
              <a:buFont typeface="Arial" panose="020B0604020202020204" pitchFamily="34" charset="0"/>
              <a:buChar char="•"/>
            </a:pPr>
            <a:r>
              <a:rPr lang="en-IN" sz="1600" dirty="0" smtClean="0"/>
              <a:t>Socket.io</a:t>
            </a:r>
            <a:endParaRPr sz="1600" dirty="0" smtClean="0">
              <a:latin typeface="Cambria"/>
              <a:cs typeface="Cambria"/>
            </a:endParaRPr>
          </a:p>
          <a:p>
            <a:pPr marL="12700"/>
            <a:r>
              <a:rPr sz="1600" b="1" dirty="0" smtClean="0">
                <a:latin typeface="Cambria"/>
                <a:cs typeface="Cambria"/>
              </a:rPr>
              <a:t>4</a:t>
            </a:r>
            <a:r>
              <a:rPr sz="1600" b="1" spc="-10" dirty="0" smtClean="0">
                <a:latin typeface="Cambria"/>
                <a:cs typeface="Cambria"/>
              </a:rPr>
              <a:t> </a:t>
            </a:r>
            <a:r>
              <a:rPr sz="1600" b="1" spc="-10" dirty="0">
                <a:latin typeface="Cambria"/>
                <a:cs typeface="Cambria"/>
              </a:rPr>
              <a:t>Database</a:t>
            </a:r>
            <a:endParaRPr sz="1600" dirty="0">
              <a:latin typeface="Cambria"/>
              <a:cs typeface="Cambria"/>
            </a:endParaRPr>
          </a:p>
          <a:p>
            <a:pPr marL="298450" indent="-285750">
              <a:buFont typeface="Arial" panose="020B0604020202020204" pitchFamily="34" charset="0"/>
              <a:buChar char="•"/>
              <a:tabLst>
                <a:tab pos="354965" algn="l"/>
              </a:tabLst>
            </a:pPr>
            <a:r>
              <a:rPr lang="en-US" sz="1600" dirty="0" smtClean="0">
                <a:latin typeface="Cambria" panose="02040503050406030204" pitchFamily="18" charset="0"/>
                <a:ea typeface="Cambria" panose="02040503050406030204" pitchFamily="18" charset="0"/>
              </a:rPr>
              <a:t>MongoDB</a:t>
            </a:r>
            <a:endParaRPr sz="1600" dirty="0" smtClean="0">
              <a:latin typeface="Cambria" panose="02040503050406030204" pitchFamily="18" charset="0"/>
              <a:ea typeface="Cambria" panose="02040503050406030204" pitchFamily="18" charset="0"/>
              <a:cs typeface="Cambria"/>
            </a:endParaRPr>
          </a:p>
          <a:p>
            <a:pPr marL="57150"/>
            <a:r>
              <a:rPr sz="1600" b="1" dirty="0" smtClean="0">
                <a:latin typeface="Cambria"/>
                <a:cs typeface="Cambria"/>
              </a:rPr>
              <a:t>5</a:t>
            </a:r>
            <a:r>
              <a:rPr sz="1600" b="1" spc="-40" dirty="0" smtClean="0">
                <a:latin typeface="Cambria"/>
                <a:cs typeface="Cambria"/>
              </a:rPr>
              <a:t> </a:t>
            </a:r>
            <a:r>
              <a:rPr lang="en-US" sz="1600" b="1" dirty="0" smtClean="0">
                <a:latin typeface="Cambria"/>
                <a:cs typeface="Cambria"/>
              </a:rPr>
              <a:t>Authentication</a:t>
            </a:r>
          </a:p>
          <a:p>
            <a:pPr marL="342900" indent="-285750">
              <a:buFont typeface="Arial" panose="020B0604020202020204" pitchFamily="34" charset="0"/>
              <a:buChar char="•"/>
            </a:pPr>
            <a:r>
              <a:rPr lang="en-US" sz="1600" dirty="0" smtClean="0">
                <a:latin typeface="Cambria"/>
                <a:cs typeface="Cambria"/>
              </a:rPr>
              <a:t>JWT </a:t>
            </a:r>
            <a:r>
              <a:rPr lang="en-US" sz="1600" dirty="0" err="1" smtClean="0">
                <a:latin typeface="Cambria"/>
                <a:cs typeface="Cambria"/>
              </a:rPr>
              <a:t>Autentication</a:t>
            </a:r>
            <a:endParaRPr sz="1600" dirty="0">
              <a:latin typeface="Cambria"/>
              <a:cs typeface="Cambria"/>
            </a:endParaRPr>
          </a:p>
          <a:p>
            <a:pPr marL="12700">
              <a:spcBef>
                <a:spcPts val="960"/>
              </a:spcBef>
              <a:tabLst>
                <a:tab pos="297815" algn="l"/>
              </a:tabLst>
            </a:pPr>
            <a:r>
              <a:rPr lang="en-US" sz="1600" b="1" dirty="0" smtClean="0">
                <a:latin typeface="Cambria"/>
                <a:cs typeface="Cambria"/>
              </a:rPr>
              <a:t>6 Development Tools</a:t>
            </a:r>
          </a:p>
          <a:p>
            <a:pPr marL="298450" indent="-285750">
              <a:spcBef>
                <a:spcPts val="960"/>
              </a:spcBef>
              <a:buFont typeface="Arial" panose="020B0604020202020204" pitchFamily="34" charset="0"/>
              <a:buChar char="•"/>
              <a:tabLst>
                <a:tab pos="297815" algn="l"/>
              </a:tabLst>
            </a:pPr>
            <a:r>
              <a:rPr sz="1600" dirty="0" smtClean="0">
                <a:latin typeface="Cambria"/>
                <a:cs typeface="Cambria"/>
              </a:rPr>
              <a:t>Tools</a:t>
            </a:r>
            <a:r>
              <a:rPr sz="1600" spc="-30" dirty="0" smtClean="0">
                <a:latin typeface="Cambria"/>
                <a:cs typeface="Cambria"/>
              </a:rPr>
              <a:t> </a:t>
            </a:r>
            <a:r>
              <a:rPr sz="1600" dirty="0">
                <a:latin typeface="Cambria"/>
                <a:cs typeface="Cambria"/>
              </a:rPr>
              <a:t>like</a:t>
            </a:r>
            <a:r>
              <a:rPr sz="1600" spc="-40" dirty="0">
                <a:latin typeface="Cambria"/>
                <a:cs typeface="Cambria"/>
              </a:rPr>
              <a:t> </a:t>
            </a:r>
            <a:r>
              <a:rPr sz="1600" dirty="0">
                <a:latin typeface="Cambria"/>
                <a:cs typeface="Cambria"/>
              </a:rPr>
              <a:t>VS</a:t>
            </a:r>
            <a:r>
              <a:rPr sz="1600" spc="-30" dirty="0">
                <a:latin typeface="Cambria"/>
                <a:cs typeface="Cambria"/>
              </a:rPr>
              <a:t> </a:t>
            </a:r>
            <a:r>
              <a:rPr sz="1600" dirty="0">
                <a:latin typeface="Cambria"/>
                <a:cs typeface="Cambria"/>
              </a:rPr>
              <a:t>Code,</a:t>
            </a:r>
            <a:r>
              <a:rPr sz="1600" spc="-35" dirty="0">
                <a:latin typeface="Cambria"/>
                <a:cs typeface="Cambria"/>
              </a:rPr>
              <a:t> </a:t>
            </a:r>
            <a:r>
              <a:rPr lang="en-US" sz="1600" spc="-10" dirty="0" err="1" smtClean="0">
                <a:latin typeface="Cambria"/>
                <a:cs typeface="Cambria"/>
              </a:rPr>
              <a:t>Git</a:t>
            </a:r>
            <a:endParaRPr lang="en-US" sz="1600" spc="-10" dirty="0" smtClean="0">
              <a:latin typeface="Cambria"/>
              <a:cs typeface="Cambria"/>
            </a:endParaRPr>
          </a:p>
          <a:p>
            <a:pPr marL="12700">
              <a:spcBef>
                <a:spcPts val="960"/>
              </a:spcBef>
              <a:tabLst>
                <a:tab pos="297815" algn="l"/>
              </a:tabLst>
            </a:pPr>
            <a:r>
              <a:rPr lang="en-US" sz="1600" b="1" dirty="0" smtClean="0">
                <a:latin typeface="Cambria"/>
                <a:cs typeface="Cambria"/>
              </a:rPr>
              <a:t>7 </a:t>
            </a:r>
            <a:r>
              <a:rPr sz="1600" b="1" dirty="0" smtClean="0">
                <a:latin typeface="Cambria"/>
                <a:cs typeface="Cambria"/>
              </a:rPr>
              <a:t>Testing</a:t>
            </a:r>
            <a:r>
              <a:rPr sz="1600" b="1" spc="-35" dirty="0" smtClean="0">
                <a:latin typeface="Cambria"/>
                <a:cs typeface="Cambria"/>
              </a:rPr>
              <a:t> </a:t>
            </a:r>
            <a:r>
              <a:rPr sz="1600" b="1" dirty="0" smtClean="0">
                <a:latin typeface="Cambria"/>
                <a:cs typeface="Cambria"/>
              </a:rPr>
              <a:t>and</a:t>
            </a:r>
            <a:r>
              <a:rPr sz="1600" b="1" spc="-30" dirty="0" smtClean="0">
                <a:latin typeface="Cambria"/>
                <a:cs typeface="Cambria"/>
              </a:rPr>
              <a:t> </a:t>
            </a:r>
            <a:r>
              <a:rPr sz="1600" b="1" dirty="0" smtClean="0">
                <a:latin typeface="Cambria"/>
                <a:cs typeface="Cambria"/>
              </a:rPr>
              <a:t>Debugging:</a:t>
            </a:r>
            <a:r>
              <a:rPr sz="1600" b="1" spc="-30" dirty="0" smtClean="0">
                <a:latin typeface="Cambria"/>
                <a:cs typeface="Cambria"/>
              </a:rPr>
              <a:t> </a:t>
            </a:r>
            <a:r>
              <a:rPr sz="1600" dirty="0" smtClean="0">
                <a:latin typeface="Cambria"/>
                <a:cs typeface="Cambria"/>
              </a:rPr>
              <a:t>Web</a:t>
            </a:r>
            <a:r>
              <a:rPr sz="1600" spc="-30" dirty="0" smtClean="0">
                <a:latin typeface="Cambria"/>
                <a:cs typeface="Cambria"/>
              </a:rPr>
              <a:t> </a:t>
            </a:r>
            <a:r>
              <a:rPr sz="1600" dirty="0" smtClean="0">
                <a:latin typeface="Cambria"/>
                <a:cs typeface="Cambria"/>
              </a:rPr>
              <a:t>Browser</a:t>
            </a:r>
            <a:r>
              <a:rPr sz="1600" spc="-35" dirty="0" smtClean="0">
                <a:latin typeface="Cambria"/>
                <a:cs typeface="Cambria"/>
              </a:rPr>
              <a:t> </a:t>
            </a:r>
            <a:r>
              <a:rPr sz="1600" dirty="0" smtClean="0">
                <a:latin typeface="Cambria"/>
                <a:cs typeface="Cambria"/>
              </a:rPr>
              <a:t>(</a:t>
            </a:r>
            <a:r>
              <a:rPr sz="1600" spc="-35" dirty="0" smtClean="0">
                <a:latin typeface="Cambria"/>
                <a:cs typeface="Cambria"/>
              </a:rPr>
              <a:t> </a:t>
            </a:r>
            <a:r>
              <a:rPr sz="1600" dirty="0" smtClean="0">
                <a:latin typeface="Cambria"/>
                <a:cs typeface="Cambria"/>
              </a:rPr>
              <a:t>Chrome,</a:t>
            </a:r>
            <a:r>
              <a:rPr sz="1600" spc="-25" dirty="0" smtClean="0">
                <a:latin typeface="Cambria"/>
                <a:cs typeface="Cambria"/>
              </a:rPr>
              <a:t> </a:t>
            </a:r>
            <a:r>
              <a:rPr sz="1600" dirty="0" smtClean="0">
                <a:latin typeface="Cambria"/>
                <a:cs typeface="Cambria"/>
              </a:rPr>
              <a:t>Firefox,</a:t>
            </a:r>
            <a:r>
              <a:rPr sz="1600" spc="-30" dirty="0" smtClean="0">
                <a:latin typeface="Cambria"/>
                <a:cs typeface="Cambria"/>
              </a:rPr>
              <a:t> </a:t>
            </a:r>
            <a:r>
              <a:rPr sz="1600" dirty="0" smtClean="0">
                <a:latin typeface="Cambria"/>
                <a:cs typeface="Cambria"/>
              </a:rPr>
              <a:t>Edge</a:t>
            </a:r>
            <a:r>
              <a:rPr sz="1600" spc="-35" dirty="0" smtClean="0">
                <a:latin typeface="Cambria"/>
                <a:cs typeface="Cambria"/>
              </a:rPr>
              <a:t> </a:t>
            </a:r>
            <a:r>
              <a:rPr sz="1600" dirty="0" smtClean="0">
                <a:latin typeface="Cambria"/>
                <a:cs typeface="Cambria"/>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0">
              <a:lnSpc>
                <a:spcPct val="100000"/>
              </a:lnSpc>
              <a:spcBef>
                <a:spcPts val="95"/>
              </a:spcBef>
            </a:pPr>
            <a:r>
              <a:rPr dirty="0"/>
              <a:t>Analysis</a:t>
            </a:r>
            <a:r>
              <a:rPr spc="-70" dirty="0"/>
              <a:t> </a:t>
            </a:r>
            <a:r>
              <a:rPr dirty="0"/>
              <a:t>of</a:t>
            </a:r>
            <a:r>
              <a:rPr spc="-70" dirty="0"/>
              <a:t> </a:t>
            </a:r>
            <a:r>
              <a:rPr dirty="0"/>
              <a:t>Problem</a:t>
            </a:r>
            <a:r>
              <a:rPr spc="-70" dirty="0"/>
              <a:t> </a:t>
            </a:r>
            <a:r>
              <a:rPr dirty="0"/>
              <a:t>Statement</a:t>
            </a:r>
            <a:r>
              <a:rPr spc="-70" dirty="0"/>
              <a:t> </a:t>
            </a:r>
            <a:r>
              <a:rPr sz="2000" dirty="0"/>
              <a:t>(</a:t>
            </a:r>
            <a:r>
              <a:rPr sz="2000" spc="-55" dirty="0"/>
              <a:t> </a:t>
            </a:r>
            <a:r>
              <a:rPr sz="2000" dirty="0"/>
              <a:t>Hardware</a:t>
            </a:r>
            <a:r>
              <a:rPr sz="2000" spc="-55" dirty="0"/>
              <a:t> </a:t>
            </a:r>
            <a:r>
              <a:rPr sz="2000" dirty="0"/>
              <a:t>Requirements</a:t>
            </a:r>
            <a:r>
              <a:rPr sz="2000" spc="-55" dirty="0"/>
              <a:t> </a:t>
            </a:r>
            <a:r>
              <a:rPr sz="2000" spc="-50" dirty="0"/>
              <a:t>)</a:t>
            </a:r>
            <a:endParaRPr sz="2000"/>
          </a:p>
        </p:txBody>
      </p:sp>
      <p:sp>
        <p:nvSpPr>
          <p:cNvPr id="3" name="object 3"/>
          <p:cNvSpPr txBox="1"/>
          <p:nvPr/>
        </p:nvSpPr>
        <p:spPr>
          <a:xfrm>
            <a:off x="762000" y="1311910"/>
            <a:ext cx="9685655" cy="4798108"/>
          </a:xfrm>
          <a:prstGeom prst="rect">
            <a:avLst/>
          </a:prstGeom>
        </p:spPr>
        <p:txBody>
          <a:bodyPr vert="horz" wrap="square" lIns="0" tIns="12065" rIns="0" bIns="0" rtlCol="0">
            <a:spAutoFit/>
          </a:bodyPr>
          <a:lstStyle/>
          <a:p>
            <a:pPr marL="12700">
              <a:lnSpc>
                <a:spcPct val="100000"/>
              </a:lnSpc>
              <a:spcBef>
                <a:spcPts val="95"/>
              </a:spcBef>
            </a:pPr>
            <a:r>
              <a:rPr sz="1700" b="1" dirty="0" smtClean="0">
                <a:latin typeface="Cambria"/>
                <a:cs typeface="Cambria"/>
              </a:rPr>
              <a:t>1</a:t>
            </a:r>
            <a:r>
              <a:rPr sz="1700" b="1" spc="-40" dirty="0" smtClean="0">
                <a:latin typeface="Cambria"/>
                <a:cs typeface="Cambria"/>
              </a:rPr>
              <a:t> </a:t>
            </a:r>
            <a:r>
              <a:rPr sz="1700" b="1" dirty="0" smtClean="0">
                <a:latin typeface="Cambria"/>
                <a:cs typeface="Cambria"/>
              </a:rPr>
              <a:t>Development</a:t>
            </a:r>
            <a:r>
              <a:rPr sz="1700" b="1" spc="-40" dirty="0" smtClean="0">
                <a:latin typeface="Cambria"/>
                <a:cs typeface="Cambria"/>
              </a:rPr>
              <a:t> </a:t>
            </a:r>
            <a:r>
              <a:rPr sz="1700" b="1" spc="-10" dirty="0" smtClean="0">
                <a:latin typeface="Cambria"/>
                <a:cs typeface="Cambria"/>
              </a:rPr>
              <a:t>Machine</a:t>
            </a:r>
            <a:endParaRPr sz="1700" dirty="0" smtClean="0">
              <a:latin typeface="Cambria"/>
              <a:cs typeface="Cambria"/>
            </a:endParaRPr>
          </a:p>
          <a:p>
            <a:pPr marL="297815" indent="-285115">
              <a:lnSpc>
                <a:spcPct val="100000"/>
              </a:lnSpc>
              <a:spcBef>
                <a:spcPts val="1340"/>
              </a:spcBef>
              <a:buFont typeface="Arial MT"/>
              <a:buChar char="•"/>
              <a:tabLst>
                <a:tab pos="297815" algn="l"/>
              </a:tabLst>
            </a:pPr>
            <a:r>
              <a:rPr sz="1700" b="1" dirty="0" smtClean="0">
                <a:latin typeface="Cambria"/>
                <a:cs typeface="Cambria"/>
              </a:rPr>
              <a:t>Processor:</a:t>
            </a:r>
            <a:r>
              <a:rPr sz="1700" b="1" spc="-30" dirty="0" smtClean="0">
                <a:latin typeface="Cambria"/>
                <a:cs typeface="Cambria"/>
              </a:rPr>
              <a:t> </a:t>
            </a:r>
            <a:r>
              <a:rPr sz="1700" dirty="0" smtClean="0">
                <a:latin typeface="Cambria"/>
                <a:cs typeface="Cambria"/>
              </a:rPr>
              <a:t>A</a:t>
            </a:r>
            <a:r>
              <a:rPr sz="1700" spc="-30" dirty="0" smtClean="0">
                <a:latin typeface="Cambria"/>
                <a:cs typeface="Cambria"/>
              </a:rPr>
              <a:t> </a:t>
            </a:r>
            <a:r>
              <a:rPr sz="1700" dirty="0" smtClean="0">
                <a:latin typeface="Cambria"/>
                <a:cs typeface="Cambria"/>
              </a:rPr>
              <a:t>modern</a:t>
            </a:r>
            <a:r>
              <a:rPr sz="1700" spc="-25" dirty="0" smtClean="0">
                <a:latin typeface="Cambria"/>
                <a:cs typeface="Cambria"/>
              </a:rPr>
              <a:t> </a:t>
            </a:r>
            <a:r>
              <a:rPr sz="1700" spc="-10" dirty="0" smtClean="0">
                <a:latin typeface="Cambria"/>
                <a:cs typeface="Cambria"/>
              </a:rPr>
              <a:t>multi-</a:t>
            </a:r>
            <a:r>
              <a:rPr sz="1700" dirty="0" smtClean="0">
                <a:latin typeface="Cambria"/>
                <a:cs typeface="Cambria"/>
              </a:rPr>
              <a:t>core</a:t>
            </a:r>
            <a:r>
              <a:rPr sz="1700" spc="-30" dirty="0" smtClean="0">
                <a:latin typeface="Cambria"/>
                <a:cs typeface="Cambria"/>
              </a:rPr>
              <a:t> </a:t>
            </a:r>
            <a:r>
              <a:rPr sz="1700" dirty="0" smtClean="0">
                <a:latin typeface="Cambria"/>
                <a:cs typeface="Cambria"/>
              </a:rPr>
              <a:t>processor(</a:t>
            </a:r>
            <a:r>
              <a:rPr lang="sv-SE" sz="1700" dirty="0" smtClean="0">
                <a:latin typeface="Cambria" panose="02040503050406030204" pitchFamily="18" charset="0"/>
                <a:ea typeface="Cambria" panose="02040503050406030204" pitchFamily="18" charset="0"/>
              </a:rPr>
              <a:t>64-bit Processor (Intel i5/i7 or AMD Ryzen 5/7)</a:t>
            </a:r>
            <a:r>
              <a:rPr sz="1700" spc="-10" dirty="0" smtClean="0">
                <a:latin typeface="Cambria"/>
                <a:cs typeface="Cambria"/>
              </a:rPr>
              <a:t>)</a:t>
            </a:r>
            <a:endParaRPr sz="1700" dirty="0" smtClean="0">
              <a:latin typeface="Cambria"/>
              <a:cs typeface="Cambria"/>
            </a:endParaRPr>
          </a:p>
          <a:p>
            <a:pPr marL="297815" indent="-285115">
              <a:lnSpc>
                <a:spcPct val="100000"/>
              </a:lnSpc>
              <a:spcBef>
                <a:spcPts val="1340"/>
              </a:spcBef>
              <a:buFont typeface="Arial MT"/>
              <a:buChar char="•"/>
              <a:tabLst>
                <a:tab pos="297815" algn="l"/>
              </a:tabLst>
            </a:pPr>
            <a:r>
              <a:rPr sz="1700" b="1" dirty="0" smtClean="0">
                <a:latin typeface="Cambria"/>
                <a:cs typeface="Cambria"/>
              </a:rPr>
              <a:t>RAM:</a:t>
            </a:r>
            <a:r>
              <a:rPr sz="1700" b="1" spc="-20" dirty="0" smtClean="0">
                <a:latin typeface="Cambria"/>
                <a:cs typeface="Cambria"/>
              </a:rPr>
              <a:t> </a:t>
            </a:r>
            <a:r>
              <a:rPr sz="1700" dirty="0" smtClean="0">
                <a:latin typeface="Cambria"/>
                <a:cs typeface="Cambria"/>
              </a:rPr>
              <a:t>At</a:t>
            </a:r>
            <a:r>
              <a:rPr sz="1700" spc="-20" dirty="0" smtClean="0">
                <a:latin typeface="Cambria"/>
                <a:cs typeface="Cambria"/>
              </a:rPr>
              <a:t> </a:t>
            </a:r>
            <a:r>
              <a:rPr sz="1700" dirty="0" smtClean="0">
                <a:latin typeface="Cambria"/>
                <a:cs typeface="Cambria"/>
              </a:rPr>
              <a:t>least</a:t>
            </a:r>
            <a:r>
              <a:rPr sz="1700" spc="-25" dirty="0" smtClean="0">
                <a:latin typeface="Cambria"/>
                <a:cs typeface="Cambria"/>
              </a:rPr>
              <a:t> </a:t>
            </a:r>
            <a:r>
              <a:rPr lang="en-US" sz="1700" spc="-25" dirty="0" smtClean="0">
                <a:latin typeface="Cambria"/>
                <a:cs typeface="Cambria"/>
              </a:rPr>
              <a:t>8</a:t>
            </a:r>
            <a:r>
              <a:rPr sz="1700" spc="-20" dirty="0" smtClean="0">
                <a:latin typeface="Cambria"/>
                <a:cs typeface="Cambria"/>
              </a:rPr>
              <a:t> </a:t>
            </a:r>
            <a:r>
              <a:rPr sz="1700" spc="-35" dirty="0" smtClean="0">
                <a:latin typeface="Cambria"/>
                <a:cs typeface="Cambria"/>
              </a:rPr>
              <a:t>GB</a:t>
            </a:r>
            <a:endParaRPr sz="1700" dirty="0" smtClean="0">
              <a:latin typeface="Cambria"/>
              <a:cs typeface="Cambria"/>
            </a:endParaRPr>
          </a:p>
          <a:p>
            <a:pPr marL="297815" indent="-285115">
              <a:lnSpc>
                <a:spcPct val="100000"/>
              </a:lnSpc>
              <a:spcBef>
                <a:spcPts val="1340"/>
              </a:spcBef>
              <a:buFont typeface="Arial MT"/>
              <a:buChar char="•"/>
              <a:tabLst>
                <a:tab pos="297815" algn="l"/>
              </a:tabLst>
            </a:pPr>
            <a:r>
              <a:rPr sz="1700" b="1" dirty="0" smtClean="0">
                <a:latin typeface="Cambria"/>
                <a:cs typeface="Cambria"/>
              </a:rPr>
              <a:t>Storage:</a:t>
            </a:r>
            <a:r>
              <a:rPr sz="1700" b="1" spc="-35" dirty="0" smtClean="0">
                <a:latin typeface="Cambria"/>
                <a:cs typeface="Cambria"/>
              </a:rPr>
              <a:t> </a:t>
            </a:r>
            <a:r>
              <a:rPr lang="en-US" sz="1700" b="1" spc="-35" dirty="0" smtClean="0">
                <a:latin typeface="Cambria"/>
                <a:cs typeface="Cambria"/>
              </a:rPr>
              <a:t> </a:t>
            </a:r>
            <a:r>
              <a:rPr lang="en-US" sz="1700" spc="-35" dirty="0" smtClean="0">
                <a:latin typeface="Cambria"/>
                <a:cs typeface="Cambria"/>
              </a:rPr>
              <a:t>30</a:t>
            </a:r>
            <a:r>
              <a:rPr sz="1700" dirty="0" smtClean="0">
                <a:latin typeface="Cambria"/>
                <a:cs typeface="Cambria"/>
              </a:rPr>
              <a:t>GB</a:t>
            </a:r>
            <a:r>
              <a:rPr sz="1700" spc="-35" dirty="0" smtClean="0">
                <a:latin typeface="Cambria"/>
                <a:cs typeface="Cambria"/>
              </a:rPr>
              <a:t> </a:t>
            </a:r>
            <a:r>
              <a:rPr sz="1700" spc="-10" dirty="0" smtClean="0">
                <a:latin typeface="Cambria"/>
                <a:cs typeface="Cambria"/>
              </a:rPr>
              <a:t>recommended</a:t>
            </a:r>
            <a:endParaRPr sz="1700" dirty="0" smtClean="0">
              <a:latin typeface="Cambria"/>
              <a:cs typeface="Cambria"/>
            </a:endParaRPr>
          </a:p>
          <a:p>
            <a:pPr>
              <a:lnSpc>
                <a:spcPct val="100000"/>
              </a:lnSpc>
              <a:spcBef>
                <a:spcPts val="844"/>
              </a:spcBef>
            </a:pPr>
            <a:endParaRPr sz="1700" dirty="0" smtClean="0">
              <a:latin typeface="Cambria"/>
              <a:cs typeface="Cambria"/>
            </a:endParaRPr>
          </a:p>
          <a:p>
            <a:pPr marL="12700">
              <a:lnSpc>
                <a:spcPct val="100000"/>
              </a:lnSpc>
            </a:pPr>
            <a:r>
              <a:rPr sz="1700" b="1" dirty="0" smtClean="0">
                <a:latin typeface="Cambria"/>
                <a:cs typeface="Cambria"/>
              </a:rPr>
              <a:t>2</a:t>
            </a:r>
            <a:r>
              <a:rPr sz="1700" b="1" spc="-10" dirty="0" smtClean="0">
                <a:latin typeface="Cambria"/>
                <a:cs typeface="Cambria"/>
              </a:rPr>
              <a:t> Network:</a:t>
            </a:r>
            <a:endParaRPr sz="1700" dirty="0" smtClean="0">
              <a:latin typeface="Cambria"/>
              <a:cs typeface="Cambria"/>
            </a:endParaRPr>
          </a:p>
          <a:p>
            <a:pPr marL="297815" indent="-285115">
              <a:lnSpc>
                <a:spcPct val="100000"/>
              </a:lnSpc>
              <a:spcBef>
                <a:spcPts val="1340"/>
              </a:spcBef>
              <a:buFont typeface="Arial MT"/>
              <a:buChar char="•"/>
              <a:tabLst>
                <a:tab pos="297815" algn="l"/>
              </a:tabLst>
            </a:pPr>
            <a:r>
              <a:rPr sz="1700" b="1" dirty="0" smtClean="0">
                <a:latin typeface="Cambria"/>
                <a:cs typeface="Cambria"/>
              </a:rPr>
              <a:t>Internet</a:t>
            </a:r>
            <a:r>
              <a:rPr sz="1700" b="1" spc="-35" dirty="0" smtClean="0">
                <a:latin typeface="Cambria"/>
                <a:cs typeface="Cambria"/>
              </a:rPr>
              <a:t> </a:t>
            </a:r>
            <a:r>
              <a:rPr sz="1700" b="1" dirty="0" smtClean="0">
                <a:latin typeface="Cambria"/>
                <a:cs typeface="Cambria"/>
              </a:rPr>
              <a:t>Connection:</a:t>
            </a:r>
            <a:r>
              <a:rPr sz="1700" b="1" spc="-35" dirty="0" smtClean="0">
                <a:latin typeface="Cambria"/>
                <a:cs typeface="Cambria"/>
              </a:rPr>
              <a:t> </a:t>
            </a:r>
            <a:r>
              <a:rPr sz="1700" dirty="0" smtClean="0">
                <a:latin typeface="Cambria"/>
                <a:cs typeface="Cambria"/>
              </a:rPr>
              <a:t>Stable</a:t>
            </a:r>
            <a:r>
              <a:rPr sz="1700" spc="-35" dirty="0" smtClean="0">
                <a:latin typeface="Cambria"/>
                <a:cs typeface="Cambria"/>
              </a:rPr>
              <a:t> </a:t>
            </a:r>
            <a:r>
              <a:rPr sz="1700" dirty="0" smtClean="0">
                <a:latin typeface="Cambria"/>
                <a:cs typeface="Cambria"/>
              </a:rPr>
              <a:t>and</a:t>
            </a:r>
            <a:r>
              <a:rPr sz="1700" spc="285" dirty="0" smtClean="0">
                <a:latin typeface="Cambria"/>
                <a:cs typeface="Cambria"/>
              </a:rPr>
              <a:t> </a:t>
            </a:r>
            <a:r>
              <a:rPr sz="1700" dirty="0" smtClean="0">
                <a:latin typeface="Cambria"/>
                <a:cs typeface="Cambria"/>
              </a:rPr>
              <a:t>standard</a:t>
            </a:r>
            <a:r>
              <a:rPr sz="1700" spc="-30" dirty="0" smtClean="0">
                <a:latin typeface="Cambria"/>
                <a:cs typeface="Cambria"/>
              </a:rPr>
              <a:t> </a:t>
            </a:r>
            <a:r>
              <a:rPr sz="1700" dirty="0" smtClean="0">
                <a:latin typeface="Cambria"/>
                <a:cs typeface="Cambria"/>
              </a:rPr>
              <a:t>speed</a:t>
            </a:r>
            <a:r>
              <a:rPr sz="1700" spc="-35" dirty="0" smtClean="0">
                <a:latin typeface="Cambria"/>
                <a:cs typeface="Cambria"/>
              </a:rPr>
              <a:t> </a:t>
            </a:r>
            <a:r>
              <a:rPr sz="1700" dirty="0" smtClean="0">
                <a:latin typeface="Cambria"/>
                <a:cs typeface="Cambria"/>
              </a:rPr>
              <a:t>internet</a:t>
            </a:r>
            <a:r>
              <a:rPr sz="1700" spc="-35" dirty="0" smtClean="0">
                <a:latin typeface="Cambria"/>
                <a:cs typeface="Cambria"/>
              </a:rPr>
              <a:t> </a:t>
            </a:r>
            <a:r>
              <a:rPr sz="1700" dirty="0" smtClean="0">
                <a:latin typeface="Cambria"/>
                <a:cs typeface="Cambria"/>
              </a:rPr>
              <a:t>connection</a:t>
            </a:r>
            <a:r>
              <a:rPr sz="1700" spc="-35" dirty="0" smtClean="0">
                <a:latin typeface="Cambria"/>
                <a:cs typeface="Cambria"/>
              </a:rPr>
              <a:t> </a:t>
            </a:r>
            <a:r>
              <a:rPr sz="1700" dirty="0" smtClean="0">
                <a:latin typeface="Cambria"/>
                <a:cs typeface="Cambria"/>
              </a:rPr>
              <a:t>for</a:t>
            </a:r>
            <a:r>
              <a:rPr sz="1700" spc="-35" dirty="0" smtClean="0">
                <a:latin typeface="Cambria"/>
                <a:cs typeface="Cambria"/>
              </a:rPr>
              <a:t> </a:t>
            </a:r>
            <a:r>
              <a:rPr sz="1700" dirty="0" smtClean="0">
                <a:latin typeface="Cambria"/>
                <a:cs typeface="Cambria"/>
              </a:rPr>
              <a:t>development</a:t>
            </a:r>
            <a:r>
              <a:rPr sz="1700" spc="-40" dirty="0" smtClean="0">
                <a:latin typeface="Cambria"/>
                <a:cs typeface="Cambria"/>
              </a:rPr>
              <a:t> </a:t>
            </a:r>
            <a:r>
              <a:rPr sz="1700" dirty="0" smtClean="0">
                <a:latin typeface="Cambria"/>
                <a:cs typeface="Cambria"/>
              </a:rPr>
              <a:t>and</a:t>
            </a:r>
            <a:r>
              <a:rPr sz="1700" spc="-30" dirty="0" smtClean="0">
                <a:latin typeface="Cambria"/>
                <a:cs typeface="Cambria"/>
              </a:rPr>
              <a:t> </a:t>
            </a:r>
            <a:r>
              <a:rPr sz="1700" spc="-10" dirty="0" err="1" smtClean="0">
                <a:latin typeface="Cambria"/>
                <a:cs typeface="Cambria"/>
              </a:rPr>
              <a:t>deployement</a:t>
            </a:r>
            <a:endParaRPr sz="1700" dirty="0" smtClean="0">
              <a:latin typeface="Cambria"/>
              <a:cs typeface="Cambria"/>
            </a:endParaRPr>
          </a:p>
          <a:p>
            <a:pPr>
              <a:lnSpc>
                <a:spcPct val="100000"/>
              </a:lnSpc>
              <a:spcBef>
                <a:spcPts val="850"/>
              </a:spcBef>
            </a:pPr>
            <a:endParaRPr sz="1700" dirty="0" smtClean="0">
              <a:latin typeface="Cambria"/>
              <a:cs typeface="Cambria"/>
            </a:endParaRPr>
          </a:p>
          <a:p>
            <a:pPr marL="12700">
              <a:lnSpc>
                <a:spcPct val="100000"/>
              </a:lnSpc>
            </a:pPr>
            <a:r>
              <a:rPr sz="1700" b="1" dirty="0" smtClean="0">
                <a:latin typeface="Cambria"/>
                <a:cs typeface="Cambria"/>
              </a:rPr>
              <a:t>3</a:t>
            </a:r>
            <a:r>
              <a:rPr sz="1700" b="1" spc="290" dirty="0" smtClean="0">
                <a:latin typeface="Cambria"/>
                <a:cs typeface="Cambria"/>
              </a:rPr>
              <a:t> </a:t>
            </a:r>
            <a:r>
              <a:rPr sz="1700" b="1" dirty="0" smtClean="0">
                <a:latin typeface="Cambria"/>
                <a:cs typeface="Cambria"/>
              </a:rPr>
              <a:t>Additional</a:t>
            </a:r>
            <a:r>
              <a:rPr sz="1700" b="1" spc="-30" dirty="0" smtClean="0">
                <a:latin typeface="Cambria"/>
                <a:cs typeface="Cambria"/>
              </a:rPr>
              <a:t> </a:t>
            </a:r>
            <a:r>
              <a:rPr sz="1700" b="1" dirty="0" smtClean="0">
                <a:latin typeface="Cambria"/>
                <a:cs typeface="Cambria"/>
              </a:rPr>
              <a:t>Hardware</a:t>
            </a:r>
            <a:r>
              <a:rPr sz="1700" b="1" spc="-25" dirty="0" smtClean="0">
                <a:latin typeface="Cambria"/>
                <a:cs typeface="Cambria"/>
              </a:rPr>
              <a:t> </a:t>
            </a:r>
            <a:r>
              <a:rPr sz="1700" b="1" dirty="0" smtClean="0">
                <a:latin typeface="Cambria"/>
                <a:cs typeface="Cambria"/>
              </a:rPr>
              <a:t>(Optional</a:t>
            </a:r>
            <a:r>
              <a:rPr sz="1700" b="1" spc="-30" dirty="0" smtClean="0">
                <a:latin typeface="Cambria"/>
                <a:cs typeface="Cambria"/>
              </a:rPr>
              <a:t> </a:t>
            </a:r>
            <a:r>
              <a:rPr sz="1700" b="1" dirty="0" smtClean="0">
                <a:latin typeface="Cambria"/>
                <a:cs typeface="Cambria"/>
              </a:rPr>
              <a:t>for</a:t>
            </a:r>
            <a:r>
              <a:rPr sz="1700" b="1" spc="-30" dirty="0" smtClean="0">
                <a:latin typeface="Cambria"/>
                <a:cs typeface="Cambria"/>
              </a:rPr>
              <a:t> </a:t>
            </a:r>
            <a:r>
              <a:rPr sz="1700" b="1" spc="-10" dirty="0" smtClean="0">
                <a:latin typeface="Cambria"/>
                <a:cs typeface="Cambria"/>
              </a:rPr>
              <a:t>Deployment)</a:t>
            </a:r>
            <a:endParaRPr sz="1700" dirty="0" smtClean="0">
              <a:latin typeface="Cambria"/>
              <a:cs typeface="Cambria"/>
            </a:endParaRPr>
          </a:p>
          <a:p>
            <a:pPr marL="297815" indent="-285115">
              <a:lnSpc>
                <a:spcPct val="100000"/>
              </a:lnSpc>
              <a:spcBef>
                <a:spcPts val="1340"/>
              </a:spcBef>
              <a:buFont typeface="Arial MT"/>
              <a:buChar char="•"/>
              <a:tabLst>
                <a:tab pos="297815" algn="l"/>
              </a:tabLst>
            </a:pPr>
            <a:r>
              <a:rPr lang="en-US" sz="1700" dirty="0" smtClean="0">
                <a:latin typeface="Cambria" panose="02040503050406030204" pitchFamily="18" charset="0"/>
                <a:ea typeface="Cambria" panose="02040503050406030204" pitchFamily="18" charset="0"/>
              </a:rPr>
              <a:t>Microphone for voice data ingestion</a:t>
            </a:r>
          </a:p>
          <a:p>
            <a:pPr marL="297815" indent="-285115">
              <a:lnSpc>
                <a:spcPct val="100000"/>
              </a:lnSpc>
              <a:spcBef>
                <a:spcPts val="1340"/>
              </a:spcBef>
              <a:buFont typeface="Arial MT"/>
              <a:buChar char="•"/>
              <a:tabLst>
                <a:tab pos="297815" algn="l"/>
              </a:tabLst>
            </a:pPr>
            <a:r>
              <a:rPr lang="en-IN" sz="1700" dirty="0" smtClean="0">
                <a:latin typeface="Cambria" panose="02040503050406030204" pitchFamily="18" charset="0"/>
                <a:ea typeface="Cambria" panose="02040503050406030204" pitchFamily="18" charset="0"/>
              </a:rPr>
              <a:t>External Storage (HDD/SSD) for large offline datasets</a:t>
            </a:r>
          </a:p>
          <a:p>
            <a:pPr marL="297815" indent="-285115">
              <a:lnSpc>
                <a:spcPct val="100000"/>
              </a:lnSpc>
              <a:spcBef>
                <a:spcPts val="1340"/>
              </a:spcBef>
              <a:buFont typeface="Arial MT"/>
              <a:buChar char="•"/>
              <a:tabLst>
                <a:tab pos="297815" algn="l"/>
              </a:tabLst>
            </a:pPr>
            <a:r>
              <a:rPr lang="en-US" sz="1700" dirty="0" smtClean="0">
                <a:latin typeface="Cambria" panose="02040503050406030204" pitchFamily="18" charset="0"/>
                <a:ea typeface="Cambria" panose="02040503050406030204" pitchFamily="18" charset="0"/>
              </a:rPr>
              <a:t>High-resolution Scanner for document digitization</a:t>
            </a:r>
            <a:endParaRPr sz="1700" dirty="0">
              <a:latin typeface="Cambria" panose="02040503050406030204" pitchFamily="18" charset="0"/>
              <a:ea typeface="Cambria" panose="02040503050406030204" pitchFamily="18" charset="0"/>
              <a:cs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0">
              <a:lnSpc>
                <a:spcPct val="100000"/>
              </a:lnSpc>
              <a:spcBef>
                <a:spcPts val="95"/>
              </a:spcBef>
            </a:pPr>
            <a:r>
              <a:rPr dirty="0"/>
              <a:t>Innovation</a:t>
            </a:r>
            <a:r>
              <a:rPr spc="-75" dirty="0"/>
              <a:t> </a:t>
            </a:r>
            <a:r>
              <a:rPr dirty="0"/>
              <a:t>or</a:t>
            </a:r>
            <a:r>
              <a:rPr spc="-75" dirty="0"/>
              <a:t> </a:t>
            </a:r>
            <a:r>
              <a:rPr dirty="0"/>
              <a:t>Novel</a:t>
            </a:r>
            <a:r>
              <a:rPr spc="-70" dirty="0"/>
              <a:t> </a:t>
            </a:r>
            <a:r>
              <a:rPr spc="-10" dirty="0"/>
              <a:t>Contributions</a:t>
            </a:r>
          </a:p>
        </p:txBody>
      </p:sp>
      <p:sp>
        <p:nvSpPr>
          <p:cNvPr id="3" name="object 3"/>
          <p:cNvSpPr txBox="1"/>
          <p:nvPr/>
        </p:nvSpPr>
        <p:spPr>
          <a:xfrm>
            <a:off x="685800" y="914400"/>
            <a:ext cx="10589895" cy="5313634"/>
          </a:xfrm>
          <a:prstGeom prst="rect">
            <a:avLst/>
          </a:prstGeom>
        </p:spPr>
        <p:txBody>
          <a:bodyPr vert="horz" wrap="square" lIns="0" tIns="12065" rIns="0" bIns="0" rtlCol="0">
            <a:spAutoFit/>
          </a:bodyPr>
          <a:lstStyle/>
          <a:p>
            <a:pPr marL="354965" indent="-342265">
              <a:lnSpc>
                <a:spcPct val="150000"/>
              </a:lnSpc>
              <a:spcBef>
                <a:spcPts val="95"/>
              </a:spcBef>
              <a:buAutoNum type="arabicPeriod"/>
              <a:tabLst>
                <a:tab pos="354965" algn="l"/>
              </a:tabLst>
            </a:pPr>
            <a:r>
              <a:rPr lang="en-US" sz="1600" b="1" dirty="0" smtClean="0">
                <a:latin typeface="Cambria" panose="02040503050406030204" pitchFamily="18" charset="0"/>
                <a:ea typeface="Cambria" panose="02040503050406030204" pitchFamily="18" charset="0"/>
              </a:rPr>
              <a:t>Gamified Interactive Learning Platform:</a:t>
            </a:r>
            <a:r>
              <a:rPr lang="en-US" sz="1600" dirty="0" smtClean="0">
                <a:latin typeface="Cambria" panose="02040503050406030204" pitchFamily="18" charset="0"/>
                <a:ea typeface="Cambria" panose="02040503050406030204" pitchFamily="18" charset="0"/>
              </a:rPr>
              <a:t/>
            </a:r>
            <a:br>
              <a:rPr lang="en-US" sz="1600" dirty="0" smtClean="0">
                <a:latin typeface="Cambria" panose="02040503050406030204" pitchFamily="18" charset="0"/>
                <a:ea typeface="Cambria" panose="02040503050406030204" pitchFamily="18" charset="0"/>
              </a:rPr>
            </a:br>
            <a:r>
              <a:rPr lang="en-US" sz="1600" dirty="0" smtClean="0">
                <a:latin typeface="Cambria" panose="02040503050406030204" pitchFamily="18" charset="0"/>
                <a:ea typeface="Cambria" panose="02040503050406030204" pitchFamily="18" charset="0"/>
              </a:rPr>
              <a:t>Unlike traditional e-learning systems that mainly focus on static content delivery, this project provides a complete gamified learning environment using badges, leaderboards, tournaments, rewards, and achievements to improve student engagement and motivation.</a:t>
            </a:r>
            <a:endParaRPr sz="1600" dirty="0" smtClean="0">
              <a:latin typeface="Cambria" panose="02040503050406030204" pitchFamily="18" charset="0"/>
              <a:ea typeface="Cambria" panose="02040503050406030204" pitchFamily="18" charset="0"/>
              <a:cs typeface="Cambria"/>
            </a:endParaRPr>
          </a:p>
          <a:p>
            <a:pPr marL="354965" indent="-342265">
              <a:lnSpc>
                <a:spcPct val="150000"/>
              </a:lnSpc>
              <a:spcBef>
                <a:spcPts val="1340"/>
              </a:spcBef>
              <a:buAutoNum type="arabicPeriod" startAt="2"/>
              <a:tabLst>
                <a:tab pos="354965" algn="l"/>
              </a:tabLst>
            </a:pPr>
            <a:r>
              <a:rPr lang="en-US" sz="1600" b="1" dirty="0" smtClean="0">
                <a:latin typeface="Cambria" panose="02040503050406030204" pitchFamily="18" charset="0"/>
                <a:ea typeface="Cambria" panose="02040503050406030204" pitchFamily="18" charset="0"/>
              </a:rPr>
              <a:t>Real-Time Quiz Duel and Communication System:</a:t>
            </a:r>
            <a:br>
              <a:rPr lang="en-US" sz="1600" b="1" dirty="0" smtClean="0">
                <a:latin typeface="Cambria" panose="02040503050406030204" pitchFamily="18" charset="0"/>
                <a:ea typeface="Cambria" panose="02040503050406030204" pitchFamily="18" charset="0"/>
              </a:rPr>
            </a:br>
            <a:r>
              <a:rPr lang="en-US" sz="1600" dirty="0" smtClean="0">
                <a:latin typeface="Cambria" panose="02040503050406030204" pitchFamily="18" charset="0"/>
                <a:ea typeface="Cambria" panose="02040503050406030204" pitchFamily="18" charset="0"/>
              </a:rPr>
              <a:t>The platform integrates Socket.io–based real-time communication to support live quiz duels, instant notifications, real-time score updates, and interactive learning experiences.</a:t>
            </a:r>
          </a:p>
          <a:p>
            <a:pPr marL="354965" indent="-342265">
              <a:lnSpc>
                <a:spcPct val="150000"/>
              </a:lnSpc>
              <a:spcBef>
                <a:spcPts val="1340"/>
              </a:spcBef>
              <a:buAutoNum type="arabicPeriod" startAt="2"/>
              <a:tabLst>
                <a:tab pos="354965" algn="l"/>
              </a:tabLst>
            </a:pPr>
            <a:r>
              <a:rPr lang="en-US" sz="1600" b="1" dirty="0" smtClean="0">
                <a:latin typeface="Cambria" panose="02040503050406030204" pitchFamily="18" charset="0"/>
                <a:ea typeface="Cambria" panose="02040503050406030204" pitchFamily="18" charset="0"/>
              </a:rPr>
              <a:t>Multi-Role Educational Management System:</a:t>
            </a:r>
            <a:r>
              <a:rPr lang="en-US" sz="1600" dirty="0" smtClean="0">
                <a:latin typeface="Cambria" panose="02040503050406030204" pitchFamily="18" charset="0"/>
                <a:ea typeface="Cambria" panose="02040503050406030204" pitchFamily="18" charset="0"/>
              </a:rPr>
              <a:t/>
            </a:r>
            <a:br>
              <a:rPr lang="en-US" sz="1600" dirty="0" smtClean="0">
                <a:latin typeface="Cambria" panose="02040503050406030204" pitchFamily="18" charset="0"/>
                <a:ea typeface="Cambria" panose="02040503050406030204" pitchFamily="18" charset="0"/>
              </a:rPr>
            </a:br>
            <a:r>
              <a:rPr lang="en-US" sz="1600" dirty="0" smtClean="0">
                <a:latin typeface="Cambria" panose="02040503050406030204" pitchFamily="18" charset="0"/>
                <a:ea typeface="Cambria" panose="02040503050406030204" pitchFamily="18" charset="0"/>
              </a:rPr>
              <a:t>The system provides dedicated dashboards and functionalities for students, teachers, and administrators, ensuring efficient content management, monitoring, and user interaction.</a:t>
            </a:r>
          </a:p>
          <a:p>
            <a:pPr marL="354965" indent="-342265">
              <a:lnSpc>
                <a:spcPct val="150000"/>
              </a:lnSpc>
              <a:spcBef>
                <a:spcPts val="1340"/>
              </a:spcBef>
              <a:buAutoNum type="arabicPeriod" startAt="2"/>
              <a:tabLst>
                <a:tab pos="354965" algn="l"/>
              </a:tabLst>
            </a:pPr>
            <a:r>
              <a:rPr lang="en-US" sz="1600" b="1" dirty="0" smtClean="0">
                <a:latin typeface="Cambria" panose="02040503050406030204" pitchFamily="18" charset="0"/>
                <a:ea typeface="Cambria" panose="02040503050406030204" pitchFamily="18" charset="0"/>
              </a:rPr>
              <a:t>Cross-Platform Learning Accessibility:</a:t>
            </a:r>
            <a:r>
              <a:rPr lang="en-US" sz="1600" dirty="0" smtClean="0">
                <a:latin typeface="Cambria" panose="02040503050406030204" pitchFamily="18" charset="0"/>
                <a:ea typeface="Cambria" panose="02040503050406030204" pitchFamily="18" charset="0"/>
              </a:rPr>
              <a:t/>
            </a:r>
            <a:br>
              <a:rPr lang="en-US" sz="1600" dirty="0" smtClean="0">
                <a:latin typeface="Cambria" panose="02040503050406030204" pitchFamily="18" charset="0"/>
                <a:ea typeface="Cambria" panose="02040503050406030204" pitchFamily="18" charset="0"/>
              </a:rPr>
            </a:br>
            <a:r>
              <a:rPr lang="en-US" sz="1600" dirty="0" smtClean="0">
                <a:latin typeface="Cambria" panose="02040503050406030204" pitchFamily="18" charset="0"/>
                <a:ea typeface="Cambria" panose="02040503050406030204" pitchFamily="18" charset="0"/>
              </a:rPr>
              <a:t>The application supports both web and mobile platforms using React.js and React Native technologies, allowing users to access educational resources anytime and anywhere.</a:t>
            </a:r>
            <a:endParaRPr sz="1600" b="1" dirty="0">
              <a:latin typeface="Cambria" panose="02040503050406030204" pitchFamily="18" charset="0"/>
              <a:ea typeface="Cambria" panose="02040503050406030204" pitchFamily="18" charset="0"/>
              <a:cs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65100">
              <a:lnSpc>
                <a:spcPct val="100000"/>
              </a:lnSpc>
              <a:spcBef>
                <a:spcPts val="95"/>
              </a:spcBef>
            </a:pPr>
            <a:r>
              <a:rPr dirty="0"/>
              <a:t>Innovation</a:t>
            </a:r>
            <a:r>
              <a:rPr spc="-75" dirty="0"/>
              <a:t> </a:t>
            </a:r>
            <a:r>
              <a:rPr dirty="0"/>
              <a:t>or</a:t>
            </a:r>
            <a:r>
              <a:rPr spc="-75" dirty="0"/>
              <a:t> </a:t>
            </a:r>
            <a:r>
              <a:rPr dirty="0"/>
              <a:t>Novel</a:t>
            </a:r>
            <a:r>
              <a:rPr spc="-70" dirty="0"/>
              <a:t> </a:t>
            </a:r>
            <a:r>
              <a:rPr spc="-10" dirty="0"/>
              <a:t>Contributions</a:t>
            </a:r>
          </a:p>
        </p:txBody>
      </p:sp>
      <p:sp>
        <p:nvSpPr>
          <p:cNvPr id="3" name="object 3"/>
          <p:cNvSpPr txBox="1">
            <a:spLocks noGrp="1"/>
          </p:cNvSpPr>
          <p:nvPr>
            <p:ph type="body" idx="1"/>
          </p:nvPr>
        </p:nvSpPr>
        <p:spPr>
          <a:xfrm>
            <a:off x="762000" y="910598"/>
            <a:ext cx="10488295" cy="4862228"/>
          </a:xfrm>
          <a:prstGeom prst="rect">
            <a:avLst/>
          </a:prstGeom>
        </p:spPr>
        <p:txBody>
          <a:bodyPr vert="horz" wrap="square" lIns="0" tIns="154305" rIns="0" bIns="0" rtlCol="0">
            <a:spAutoFit/>
          </a:bodyPr>
          <a:lstStyle/>
          <a:p>
            <a:pPr marL="342900" indent="-342900">
              <a:lnSpc>
                <a:spcPct val="150000"/>
              </a:lnSpc>
              <a:buFont typeface="+mj-lt"/>
              <a:buAutoNum type="arabicPeriod" startAt="5"/>
            </a:pPr>
            <a:r>
              <a:rPr lang="en-US" b="1" dirty="0">
                <a:latin typeface="Cambria" panose="02040503050406030204" pitchFamily="18" charset="0"/>
                <a:ea typeface="Cambria" panose="02040503050406030204" pitchFamily="18" charset="0"/>
              </a:rPr>
              <a:t>Performance Tracking and Analytics System:</a:t>
            </a:r>
            <a:br>
              <a:rPr lang="en-US" b="1"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The platform continuously tracks student performance, rankings, achievements, quiz scores, and participation levels to provide detailed educational analytics.</a:t>
            </a:r>
          </a:p>
          <a:p>
            <a:pPr marL="342900" indent="-342900">
              <a:lnSpc>
                <a:spcPct val="150000"/>
              </a:lnSpc>
              <a:buFont typeface="+mj-lt"/>
              <a:buAutoNum type="arabicPeriod" startAt="6"/>
            </a:pPr>
            <a:r>
              <a:rPr lang="en-US" b="1" dirty="0">
                <a:latin typeface="Cambria" panose="02040503050406030204" pitchFamily="18" charset="0"/>
                <a:ea typeface="Cambria" panose="02040503050406030204" pitchFamily="18" charset="0"/>
              </a:rPr>
              <a:t>Secure and Scalable Full-Stack Architecture:</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The project integrates JWT authentication, MongoDB database management, and modular backend architecture to ensure secure communication, scalability, and efficient system performance.</a:t>
            </a:r>
          </a:p>
          <a:p>
            <a:pPr marL="342900" indent="-342900">
              <a:lnSpc>
                <a:spcPct val="150000"/>
              </a:lnSpc>
              <a:buFont typeface="+mj-lt"/>
              <a:buAutoNum type="arabicPeriod" startAt="7"/>
            </a:pPr>
            <a:r>
              <a:rPr lang="en-US" b="1" dirty="0">
                <a:latin typeface="Cambria" panose="02040503050406030204" pitchFamily="18" charset="0"/>
                <a:ea typeface="Cambria" panose="02040503050406030204" pitchFamily="18" charset="0"/>
              </a:rPr>
              <a:t>Interactive Competitive Learning Environment:</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Students can participate in quizzes, tournaments, missions, and leaderboard competitions, creating an engaging and collaborative educational ecosystem.</a:t>
            </a:r>
            <a:endParaRPr lang="en-US" b="1" dirty="0">
              <a:latin typeface="Cambria" panose="02040503050406030204" pitchFamily="18" charset="0"/>
              <a:ea typeface="Cambria" panose="02040503050406030204" pitchFamily="18" charset="0"/>
            </a:endParaRPr>
          </a:p>
          <a:p>
            <a:pPr marL="342900" indent="-342900">
              <a:lnSpc>
                <a:spcPct val="150000"/>
              </a:lnSpc>
              <a:buFont typeface="+mj-lt"/>
              <a:buAutoNum type="arabicPeriod" startAt="8"/>
            </a:pPr>
            <a:r>
              <a:rPr lang="en-US" b="1" dirty="0">
                <a:latin typeface="Cambria" panose="02040503050406030204" pitchFamily="18" charset="0"/>
                <a:ea typeface="Cambria" panose="02040503050406030204" pitchFamily="18" charset="0"/>
              </a:rPr>
              <a:t>Extensible and Future-Ready System Design:</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The architecture is designed to support future integration of AI-based recommendations, adaptive learning systems, AR/VR educational features, and advanced analytics modules.</a:t>
            </a:r>
          </a:p>
          <a:p>
            <a:pPr marL="12700">
              <a:lnSpc>
                <a:spcPct val="100000"/>
              </a:lnSpc>
              <a:spcBef>
                <a:spcPts val="95"/>
              </a:spcBef>
              <a:tabLst>
                <a:tab pos="354965" algn="l"/>
              </a:tabLst>
            </a:pPr>
            <a:endParaRPr sz="1700" b="1" spc="-10" dirty="0">
              <a:latin typeface="Cambria" panose="02040503050406030204" pitchFamily="18" charset="0"/>
              <a:ea typeface="Cambria" panose="02040503050406030204" pitchFamily="18" charset="0"/>
              <a:cs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99926-7698-E310-FABA-57260172AB1B}"/>
              </a:ext>
            </a:extLst>
          </p:cNvPr>
          <p:cNvSpPr>
            <a:spLocks noGrp="1"/>
          </p:cNvSpPr>
          <p:nvPr>
            <p:ph type="title"/>
          </p:nvPr>
        </p:nvSpPr>
        <p:spPr>
          <a:xfrm>
            <a:off x="890905" y="280987"/>
            <a:ext cx="8478520" cy="430887"/>
          </a:xfrm>
        </p:spPr>
        <p:txBody>
          <a:bodyPr/>
          <a:lstStyle/>
          <a:p>
            <a:r>
              <a:rPr lang="en-US" dirty="0"/>
              <a:t>Flow Diagram</a:t>
            </a:r>
          </a:p>
        </p:txBody>
      </p:sp>
      <p:pic>
        <p:nvPicPr>
          <p:cNvPr id="9" name="Picture 8"/>
          <p:cNvPicPr>
            <a:picLocks noChangeAspect="1"/>
          </p:cNvPicPr>
          <p:nvPr/>
        </p:nvPicPr>
        <p:blipFill>
          <a:blip r:embed="rId2"/>
          <a:stretch>
            <a:fillRect/>
          </a:stretch>
        </p:blipFill>
        <p:spPr>
          <a:xfrm>
            <a:off x="1524000" y="1143000"/>
            <a:ext cx="9091714" cy="4963152"/>
          </a:xfrm>
          <a:prstGeom prst="rect">
            <a:avLst/>
          </a:prstGeom>
        </p:spPr>
      </p:pic>
    </p:spTree>
    <p:extLst>
      <p:ext uri="{BB962C8B-B14F-4D97-AF65-F5344CB8AC3E}">
        <p14:creationId xmlns:p14="http://schemas.microsoft.com/office/powerpoint/2010/main" val="3846116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73726-D4CA-AF5A-5A90-FE320592774E}"/>
              </a:ext>
            </a:extLst>
          </p:cNvPr>
          <p:cNvSpPr>
            <a:spLocks noGrp="1"/>
          </p:cNvSpPr>
          <p:nvPr>
            <p:ph type="title"/>
          </p:nvPr>
        </p:nvSpPr>
        <p:spPr>
          <a:xfrm>
            <a:off x="890905" y="280987"/>
            <a:ext cx="8478520" cy="430887"/>
          </a:xfrm>
        </p:spPr>
        <p:txBody>
          <a:bodyPr/>
          <a:lstStyle/>
          <a:p>
            <a:r>
              <a:rPr lang="en-US" dirty="0"/>
              <a:t>Literature Survey</a:t>
            </a:r>
          </a:p>
        </p:txBody>
      </p:sp>
      <p:sp>
        <p:nvSpPr>
          <p:cNvPr id="4" name="Text Placeholder 3"/>
          <p:cNvSpPr>
            <a:spLocks noGrp="1"/>
          </p:cNvSpPr>
          <p:nvPr>
            <p:ph type="body" idx="1"/>
          </p:nvPr>
        </p:nvSpPr>
        <p:spPr>
          <a:xfrm>
            <a:off x="1043305" y="1169669"/>
            <a:ext cx="10359390" cy="4431983"/>
          </a:xfrm>
        </p:spPr>
        <p:txBody>
          <a:bodyPr/>
          <a:lstStyle/>
          <a:p>
            <a:pPr>
              <a:lnSpc>
                <a:spcPct val="150000"/>
              </a:lnSpc>
            </a:pPr>
            <a:r>
              <a:rPr lang="en-US" b="1" dirty="0">
                <a:latin typeface="Cambria" panose="02040503050406030204" pitchFamily="18" charset="0"/>
                <a:ea typeface="Cambria" panose="02040503050406030204" pitchFamily="18" charset="0"/>
              </a:rPr>
              <a:t>1. </a:t>
            </a:r>
            <a:r>
              <a:rPr lang="en-US" b="1" dirty="0" err="1">
                <a:latin typeface="Cambria" panose="02040503050406030204" pitchFamily="18" charset="0"/>
                <a:ea typeface="Cambria" panose="02040503050406030204" pitchFamily="18" charset="0"/>
              </a:rPr>
              <a:t>Deterding</a:t>
            </a:r>
            <a:r>
              <a:rPr lang="en-US" b="1" dirty="0">
                <a:latin typeface="Cambria" panose="02040503050406030204" pitchFamily="18" charset="0"/>
                <a:ea typeface="Cambria" panose="02040503050406030204" pitchFamily="18" charset="0"/>
              </a:rPr>
              <a:t> et al. (2011)</a:t>
            </a:r>
          </a:p>
          <a:p>
            <a:pPr>
              <a:lnSpc>
                <a:spcPct val="150000"/>
              </a:lnSpc>
            </a:pPr>
            <a:r>
              <a:rPr lang="en-US" dirty="0">
                <a:latin typeface="Cambria" panose="02040503050406030204" pitchFamily="18" charset="0"/>
                <a:ea typeface="Cambria" panose="02040503050406030204" pitchFamily="18" charset="0"/>
              </a:rPr>
              <a:t>The study introduced the concept of gamification and explained how game design elements such as rewards, badges, and scoring systems improve user engagement and participation in digital platforms. The research highlighted that gamification increases motivation and creates a more interactive learning environment.</a:t>
            </a:r>
          </a:p>
          <a:p>
            <a:pPr>
              <a:lnSpc>
                <a:spcPct val="150000"/>
              </a:lnSpc>
            </a:pPr>
            <a:r>
              <a:rPr lang="en-US" b="1" dirty="0">
                <a:latin typeface="Cambria" panose="02040503050406030204" pitchFamily="18" charset="0"/>
                <a:ea typeface="Cambria" panose="02040503050406030204" pitchFamily="18" charset="0"/>
              </a:rPr>
              <a:t>2. </a:t>
            </a:r>
            <a:r>
              <a:rPr lang="en-US" b="1" dirty="0" err="1">
                <a:latin typeface="Cambria" panose="02040503050406030204" pitchFamily="18" charset="0"/>
                <a:ea typeface="Cambria" panose="02040503050406030204" pitchFamily="18" charset="0"/>
              </a:rPr>
              <a:t>Hamari</a:t>
            </a:r>
            <a:r>
              <a:rPr lang="en-US" b="1" dirty="0">
                <a:latin typeface="Cambria" panose="02040503050406030204" pitchFamily="18" charset="0"/>
                <a:ea typeface="Cambria" panose="02040503050406030204" pitchFamily="18" charset="0"/>
              </a:rPr>
              <a:t> et al. (2014)</a:t>
            </a:r>
          </a:p>
          <a:p>
            <a:pPr>
              <a:lnSpc>
                <a:spcPct val="150000"/>
              </a:lnSpc>
            </a:pPr>
            <a:r>
              <a:rPr lang="en-US" dirty="0">
                <a:latin typeface="Cambria" panose="02040503050406030204" pitchFamily="18" charset="0"/>
                <a:ea typeface="Cambria" panose="02040503050406030204" pitchFamily="18" charset="0"/>
              </a:rPr>
              <a:t>This research analyzed the effectiveness of gamification in education and concluded that gamified systems positively impact student motivation, participation, and learning performance when combined with feedback mechanisms and reward systems.</a:t>
            </a:r>
          </a:p>
          <a:p>
            <a:pPr>
              <a:lnSpc>
                <a:spcPct val="150000"/>
              </a:lnSpc>
            </a:pPr>
            <a:r>
              <a:rPr lang="en-US" b="1" dirty="0">
                <a:latin typeface="Cambria" panose="02040503050406030204" pitchFamily="18" charset="0"/>
                <a:ea typeface="Cambria" panose="02040503050406030204" pitchFamily="18" charset="0"/>
              </a:rPr>
              <a:t>3. Dominguez et al. (2013)</a:t>
            </a:r>
          </a:p>
          <a:p>
            <a:pPr>
              <a:lnSpc>
                <a:spcPct val="150000"/>
              </a:lnSpc>
            </a:pPr>
            <a:r>
              <a:rPr lang="en-US" dirty="0">
                <a:latin typeface="Cambria" panose="02040503050406030204" pitchFamily="18" charset="0"/>
                <a:ea typeface="Cambria" panose="02040503050406030204" pitchFamily="18" charset="0"/>
              </a:rPr>
              <a:t>The study examined the impact of gamified educational environments in higher education and found that students participating in gamified learning activities showed better engagement, practical skill development, and learning outcomes compared to traditional teaching methods</a:t>
            </a:r>
            <a:r>
              <a:rPr lang="en-US" dirty="0" smtClean="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23720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905" y="280987"/>
            <a:ext cx="8478520" cy="430887"/>
          </a:xfrm>
        </p:spPr>
        <p:txBody>
          <a:bodyPr/>
          <a:lstStyle/>
          <a:p>
            <a:r>
              <a:rPr lang="en-US" dirty="0" smtClean="0"/>
              <a:t>Literature Survey</a:t>
            </a:r>
            <a:endParaRPr lang="en-IN" dirty="0"/>
          </a:p>
        </p:txBody>
      </p:sp>
      <p:sp>
        <p:nvSpPr>
          <p:cNvPr id="3" name="Text Placeholder 2"/>
          <p:cNvSpPr>
            <a:spLocks noGrp="1"/>
          </p:cNvSpPr>
          <p:nvPr>
            <p:ph type="body" idx="1"/>
          </p:nvPr>
        </p:nvSpPr>
        <p:spPr>
          <a:xfrm>
            <a:off x="1043305" y="1169669"/>
            <a:ext cx="10359390" cy="4386329"/>
          </a:xfrm>
        </p:spPr>
        <p:txBody>
          <a:bodyPr/>
          <a:lstStyle/>
          <a:p>
            <a:pPr>
              <a:lnSpc>
                <a:spcPct val="150000"/>
              </a:lnSpc>
            </a:pPr>
            <a:r>
              <a:rPr lang="en-US" b="1" dirty="0" smtClean="0">
                <a:latin typeface="Cambria" panose="02040503050406030204" pitchFamily="18" charset="0"/>
                <a:ea typeface="Cambria" panose="02040503050406030204" pitchFamily="18" charset="0"/>
              </a:rPr>
              <a:t>4</a:t>
            </a:r>
            <a:r>
              <a:rPr lang="en-US" b="1" dirty="0">
                <a:latin typeface="Cambria" panose="02040503050406030204" pitchFamily="18" charset="0"/>
                <a:ea typeface="Cambria" panose="02040503050406030204" pitchFamily="18" charset="0"/>
              </a:rPr>
              <a:t>. Kumar and Joshi et al. (2023)</a:t>
            </a:r>
          </a:p>
          <a:p>
            <a:pPr>
              <a:lnSpc>
                <a:spcPct val="150000"/>
              </a:lnSpc>
            </a:pPr>
            <a:r>
              <a:rPr lang="en-US" dirty="0">
                <a:latin typeface="Cambria" panose="02040503050406030204" pitchFamily="18" charset="0"/>
                <a:ea typeface="Cambria" panose="02040503050406030204" pitchFamily="18" charset="0"/>
              </a:rPr>
              <a:t>The researchers developed an Android-based educational quiz application and demonstrated that interactive quiz systems significantly improve student retention rates and learning efficiency through visual interaction and instant feedback mechanisms.</a:t>
            </a:r>
          </a:p>
          <a:p>
            <a:pPr>
              <a:lnSpc>
                <a:spcPct val="150000"/>
              </a:lnSpc>
            </a:pPr>
            <a:r>
              <a:rPr lang="en-US" b="1" dirty="0">
                <a:latin typeface="Cambria" panose="02040503050406030204" pitchFamily="18" charset="0"/>
                <a:ea typeface="Cambria" panose="02040503050406030204" pitchFamily="18" charset="0"/>
              </a:rPr>
              <a:t>5. Zhang and Chen et al. (2021)</a:t>
            </a:r>
          </a:p>
          <a:p>
            <a:pPr>
              <a:lnSpc>
                <a:spcPct val="150000"/>
              </a:lnSpc>
            </a:pPr>
            <a:r>
              <a:rPr lang="en-US" dirty="0">
                <a:latin typeface="Cambria" panose="02040503050406030204" pitchFamily="18" charset="0"/>
                <a:ea typeface="Cambria" panose="02040503050406030204" pitchFamily="18" charset="0"/>
              </a:rPr>
              <a:t>The research focused on gamification-enhanced e-learning systems and identified that features such as leaderboards, progress indicators, and interactive feedback systems improve cognitive engagement, participation, and user satisfaction.</a:t>
            </a:r>
          </a:p>
          <a:p>
            <a:pPr>
              <a:lnSpc>
                <a:spcPct val="150000"/>
              </a:lnSpc>
            </a:pPr>
            <a:r>
              <a:rPr lang="en-US" b="1" dirty="0">
                <a:latin typeface="Cambria" panose="02040503050406030204" pitchFamily="18" charset="0"/>
                <a:ea typeface="Cambria" panose="02040503050406030204" pitchFamily="18" charset="0"/>
              </a:rPr>
              <a:t>6. Thomas and Reddy et al. (2020)</a:t>
            </a:r>
          </a:p>
          <a:p>
            <a:pPr>
              <a:lnSpc>
                <a:spcPct val="150000"/>
              </a:lnSpc>
            </a:pPr>
            <a:r>
              <a:rPr lang="en-US" dirty="0">
                <a:latin typeface="Cambria" panose="02040503050406030204" pitchFamily="18" charset="0"/>
                <a:ea typeface="Cambria" panose="02040503050406030204" pitchFamily="18" charset="0"/>
              </a:rPr>
              <a:t>The study compared interactive e-learning systems with traditional lecture-based teaching methods and concluded that real-time interaction, active feedback systems, and scenario-based learning significantly improve student performance and participation.</a:t>
            </a:r>
          </a:p>
        </p:txBody>
      </p:sp>
    </p:spTree>
    <p:extLst>
      <p:ext uri="{BB962C8B-B14F-4D97-AF65-F5344CB8AC3E}">
        <p14:creationId xmlns:p14="http://schemas.microsoft.com/office/powerpoint/2010/main" val="710229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905" y="280987"/>
            <a:ext cx="8478520" cy="430887"/>
          </a:xfrm>
        </p:spPr>
        <p:txBody>
          <a:bodyPr/>
          <a:lstStyle/>
          <a:p>
            <a:r>
              <a:rPr lang="en-US" dirty="0" err="1" smtClean="0"/>
              <a:t>Github</a:t>
            </a:r>
            <a:r>
              <a:rPr lang="en-US" dirty="0" smtClean="0"/>
              <a:t> Link</a:t>
            </a:r>
            <a:endParaRPr lang="en-IN" dirty="0"/>
          </a:p>
        </p:txBody>
      </p:sp>
      <p:sp>
        <p:nvSpPr>
          <p:cNvPr id="3" name="Text Placeholder 2"/>
          <p:cNvSpPr>
            <a:spLocks noGrp="1"/>
          </p:cNvSpPr>
          <p:nvPr>
            <p:ph type="body" idx="1"/>
          </p:nvPr>
        </p:nvSpPr>
        <p:spPr>
          <a:xfrm>
            <a:off x="1043305" y="1169669"/>
            <a:ext cx="10359390" cy="369332"/>
          </a:xfrm>
        </p:spPr>
        <p:txBody>
          <a:bodyPr/>
          <a:lstStyle/>
          <a:p>
            <a:r>
              <a:rPr lang="en-IN" sz="2400" dirty="0">
                <a:latin typeface="Cambria" panose="02040503050406030204" pitchFamily="18" charset="0"/>
                <a:ea typeface="Cambria" panose="02040503050406030204" pitchFamily="18" charset="0"/>
              </a:rPr>
              <a:t>https://github.com/dhanaraj99/SyncLearn_Gamified_learning_platform.git</a:t>
            </a:r>
          </a:p>
        </p:txBody>
      </p:sp>
    </p:spTree>
    <p:extLst>
      <p:ext uri="{BB962C8B-B14F-4D97-AF65-F5344CB8AC3E}">
        <p14:creationId xmlns:p14="http://schemas.microsoft.com/office/powerpoint/2010/main" val="3815545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2796" y="1441703"/>
            <a:ext cx="3893820" cy="393496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359</TotalTime>
  <Words>678</Words>
  <Application>Microsoft Office PowerPoint</Application>
  <PresentationFormat>Widescreen</PresentationFormat>
  <Paragraphs>116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MT</vt:lpstr>
      <vt:lpstr>Cambria</vt:lpstr>
      <vt:lpstr>Times New Roman</vt:lpstr>
      <vt:lpstr>Verdana</vt:lpstr>
      <vt:lpstr>Office Theme</vt:lpstr>
      <vt:lpstr>CSE7302- University Project Review-3</vt:lpstr>
      <vt:lpstr>Content</vt:lpstr>
      <vt:lpstr>Problem Statement :</vt:lpstr>
      <vt:lpstr>Objectives :</vt:lpstr>
      <vt:lpstr>Objectives :</vt:lpstr>
      <vt:lpstr>Analysis of Problem Statement ( Software Requirements )</vt:lpstr>
      <vt:lpstr>Analysis of Problem Statement ( Hardware Requirements )</vt:lpstr>
      <vt:lpstr>Innovation or Novel Contributions</vt:lpstr>
      <vt:lpstr>Innovation or Novel Contributions</vt:lpstr>
      <vt:lpstr>Flow Diagram</vt:lpstr>
      <vt:lpstr>Literature Survey</vt:lpstr>
      <vt:lpstr>Literature Survey</vt:lpstr>
      <vt:lpstr>Github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CSE7101- Capstone Project Review-1</dc:title>
  <dc:creator>kovuri nizam</dc:creator>
  <dc:description/>
  <cp:lastModifiedBy>dhanaraj dhammure</cp:lastModifiedBy>
  <cp:revision>22</cp:revision>
  <dcterms:created xsi:type="dcterms:W3CDTF">2025-08-10T14:24:47Z</dcterms:created>
  <dcterms:modified xsi:type="dcterms:W3CDTF">2026-05-12T18:46:10Z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2025-08-10T00:00:00Z</vt:filetime>
  </property>
  <property fmtid="{D5CDD505-2E9C-101B-9397-08002B2CF9AE}" pid="3" name="Creator">
    <vt:lpwstr>WPS Presentation</vt:lpwstr>
  </property>
  <property fmtid="{D5CDD505-2E9C-101B-9397-08002B2CF9AE}" pid="4" name="LastSaved">
    <vt:filetime>2025-08-10T00:00:00Z</vt:filetime>
  </property>
  <property fmtid="{D5CDD505-2E9C-101B-9397-08002B2CF9AE}" pid="5" name="SourceModified">
    <vt:lpwstr>D:20250810153115+05'30'</vt:lpwstr>
  </property>
</Properties>
</file>