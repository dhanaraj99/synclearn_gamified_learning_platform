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5" r:id="rId13"/>
    <p:sldId id="276" r:id="rId14"/>
    <p:sldId id="274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58FE7-063A-4DBD-B20A-D27D511E665A}" v="16" dt="2026-04-20T12:05:45.7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uri nizam" userId="a610bd2f6c0a5cf4" providerId="LiveId" clId="{AD7561CC-E29F-482C-8B2D-63DF8561265E}"/>
    <pc:docChg chg="custSel addSld delSld modSld sldOrd">
      <pc:chgData name="kovuri nizam" userId="a610bd2f6c0a5cf4" providerId="LiveId" clId="{AD7561CC-E29F-482C-8B2D-63DF8561265E}" dt="2026-04-20T12:29:38.926" v="97" actId="2696"/>
      <pc:docMkLst>
        <pc:docMk/>
      </pc:docMkLst>
      <pc:sldChg chg="modSp mod">
        <pc:chgData name="kovuri nizam" userId="a610bd2f6c0a5cf4" providerId="LiveId" clId="{AD7561CC-E29F-482C-8B2D-63DF8561265E}" dt="2026-04-20T12:07:00.042" v="95" actId="20577"/>
        <pc:sldMkLst>
          <pc:docMk/>
          <pc:sldMk cId="0" sldId="256"/>
        </pc:sldMkLst>
        <pc:spChg chg="mod">
          <ac:chgData name="kovuri nizam" userId="a610bd2f6c0a5cf4" providerId="LiveId" clId="{AD7561CC-E29F-482C-8B2D-63DF8561265E}" dt="2026-04-20T12:07:00.042" v="9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ord">
        <pc:chgData name="kovuri nizam" userId="a610bd2f6c0a5cf4" providerId="LiveId" clId="{AD7561CC-E29F-482C-8B2D-63DF8561265E}" dt="2026-04-20T11:59:08.463" v="3"/>
        <pc:sldMkLst>
          <pc:docMk/>
          <pc:sldMk cId="3036710442" sldId="273"/>
        </pc:sldMkLst>
        <pc:spChg chg="mod">
          <ac:chgData name="kovuri nizam" userId="a610bd2f6c0a5cf4" providerId="LiveId" clId="{AD7561CC-E29F-482C-8B2D-63DF8561265E}" dt="2026-04-20T11:58:11.254" v="0"/>
          <ac:spMkLst>
            <pc:docMk/>
            <pc:sldMk cId="3036710442" sldId="273"/>
            <ac:spMk id="2" creationId="{4BE9938D-563F-9673-220B-0D9DBCCF5EF0}"/>
          </ac:spMkLst>
        </pc:spChg>
      </pc:sldChg>
      <pc:sldChg chg="modSp ord">
        <pc:chgData name="kovuri nizam" userId="a610bd2f6c0a5cf4" providerId="LiveId" clId="{AD7561CC-E29F-482C-8B2D-63DF8561265E}" dt="2026-04-20T11:59:10.818" v="5"/>
        <pc:sldMkLst>
          <pc:docMk/>
          <pc:sldMk cId="3505626533" sldId="274"/>
        </pc:sldMkLst>
        <pc:spChg chg="mod">
          <ac:chgData name="kovuri nizam" userId="a610bd2f6c0a5cf4" providerId="LiveId" clId="{AD7561CC-E29F-482C-8B2D-63DF8561265E}" dt="2026-04-20T11:58:17.268" v="1"/>
          <ac:spMkLst>
            <pc:docMk/>
            <pc:sldMk cId="3505626533" sldId="274"/>
            <ac:spMk id="2" creationId="{3F7F0980-E34B-6230-FAFE-98DC27B6714E}"/>
          </ac:spMkLst>
        </pc:spChg>
      </pc:sldChg>
      <pc:sldChg chg="addSp delSp modSp add del mod ord">
        <pc:chgData name="kovuri nizam" userId="a610bd2f6c0a5cf4" providerId="LiveId" clId="{AD7561CC-E29F-482C-8B2D-63DF8561265E}" dt="2026-04-20T12:29:35.065" v="96" actId="2696"/>
        <pc:sldMkLst>
          <pc:docMk/>
          <pc:sldMk cId="200229679" sldId="275"/>
        </pc:sldMkLst>
        <pc:spChg chg="mod">
          <ac:chgData name="kovuri nizam" userId="a610bd2f6c0a5cf4" providerId="LiveId" clId="{AD7561CC-E29F-482C-8B2D-63DF8561265E}" dt="2026-04-20T12:01:05.641" v="18" actId="20577"/>
          <ac:spMkLst>
            <pc:docMk/>
            <pc:sldMk cId="200229679" sldId="275"/>
            <ac:spMk id="2" creationId="{845BA5B7-E01B-E4B6-6D0B-FF421995154D}"/>
          </ac:spMkLst>
        </pc:spChg>
        <pc:picChg chg="del">
          <ac:chgData name="kovuri nizam" userId="a610bd2f6c0a5cf4" providerId="LiveId" clId="{AD7561CC-E29F-482C-8B2D-63DF8561265E}" dt="2026-04-20T11:59:57.305" v="9" actId="21"/>
          <ac:picMkLst>
            <pc:docMk/>
            <pc:sldMk cId="200229679" sldId="275"/>
            <ac:picMk id="4" creationId="{543F889B-086A-B234-F4DC-DF69B405F744}"/>
          </ac:picMkLst>
        </pc:picChg>
        <pc:picChg chg="add del mod">
          <ac:chgData name="kovuri nizam" userId="a610bd2f6c0a5cf4" providerId="LiveId" clId="{AD7561CC-E29F-482C-8B2D-63DF8561265E}" dt="2026-04-20T12:00:22.940" v="12" actId="21"/>
          <ac:picMkLst>
            <pc:docMk/>
            <pc:sldMk cId="200229679" sldId="275"/>
            <ac:picMk id="5" creationId="{AD0B4F95-0C56-CCEC-9511-EC6F45D6B644}"/>
          </ac:picMkLst>
        </pc:picChg>
        <pc:picChg chg="add mod">
          <ac:chgData name="kovuri nizam" userId="a610bd2f6c0a5cf4" providerId="LiveId" clId="{AD7561CC-E29F-482C-8B2D-63DF8561265E}" dt="2026-04-20T12:00:41.371" v="16" actId="14100"/>
          <ac:picMkLst>
            <pc:docMk/>
            <pc:sldMk cId="200229679" sldId="275"/>
            <ac:picMk id="6" creationId="{9B320800-575C-7897-9932-8949B32E1D0B}"/>
          </ac:picMkLst>
        </pc:picChg>
      </pc:sldChg>
      <pc:sldChg chg="addSp delSp modSp add del mod">
        <pc:chgData name="kovuri nizam" userId="a610bd2f6c0a5cf4" providerId="LiveId" clId="{AD7561CC-E29F-482C-8B2D-63DF8561265E}" dt="2026-04-20T12:29:38.926" v="97" actId="2696"/>
        <pc:sldMkLst>
          <pc:docMk/>
          <pc:sldMk cId="353308626" sldId="276"/>
        </pc:sldMkLst>
        <pc:spChg chg="del mod">
          <ac:chgData name="kovuri nizam" userId="a610bd2f6c0a5cf4" providerId="LiveId" clId="{AD7561CC-E29F-482C-8B2D-63DF8561265E}" dt="2026-04-20T12:04:56.231" v="47"/>
          <ac:spMkLst>
            <pc:docMk/>
            <pc:sldMk cId="353308626" sldId="276"/>
            <ac:spMk id="3" creationId="{9F02DCCA-B0E2-EFFF-9B2D-2C22BD9FF931}"/>
          </ac:spMkLst>
        </pc:spChg>
        <pc:spChg chg="add del mod">
          <ac:chgData name="kovuri nizam" userId="a610bd2f6c0a5cf4" providerId="LiveId" clId="{AD7561CC-E29F-482C-8B2D-63DF8561265E}" dt="2026-04-20T12:03:52.726" v="40"/>
          <ac:spMkLst>
            <pc:docMk/>
            <pc:sldMk cId="353308626" sldId="276"/>
            <ac:spMk id="5" creationId="{3077E4EB-D227-E3EA-075E-73E9ECB02646}"/>
          </ac:spMkLst>
        </pc:spChg>
        <pc:spChg chg="add">
          <ac:chgData name="kovuri nizam" userId="a610bd2f6c0a5cf4" providerId="LiveId" clId="{AD7561CC-E29F-482C-8B2D-63DF8561265E}" dt="2026-04-20T12:04:39.865" v="45"/>
          <ac:spMkLst>
            <pc:docMk/>
            <pc:sldMk cId="353308626" sldId="276"/>
            <ac:spMk id="7" creationId="{777D349B-A71F-C9E4-7185-D31FA0D303B0}"/>
          </ac:spMkLst>
        </pc:spChg>
        <pc:spChg chg="add mod">
          <ac:chgData name="kovuri nizam" userId="a610bd2f6c0a5cf4" providerId="LiveId" clId="{AD7561CC-E29F-482C-8B2D-63DF8561265E}" dt="2026-04-20T12:05:45.720" v="93" actId="1076"/>
          <ac:spMkLst>
            <pc:docMk/>
            <pc:sldMk cId="353308626" sldId="276"/>
            <ac:spMk id="8" creationId="{3EB25952-4C0B-D0BA-C547-5A236E40E3E8}"/>
          </ac:spMkLst>
        </pc:spChg>
        <pc:picChg chg="add del mod">
          <ac:chgData name="kovuri nizam" userId="a610bd2f6c0a5cf4" providerId="LiveId" clId="{AD7561CC-E29F-482C-8B2D-63DF8561265E}" dt="2026-04-20T12:02:38.289" v="22" actId="478"/>
          <ac:picMkLst>
            <pc:docMk/>
            <pc:sldMk cId="353308626" sldId="276"/>
            <ac:picMk id="4" creationId="{6DB416D8-79CF-86DB-9C32-7262F07BBFCD}"/>
          </ac:picMkLst>
        </pc:picChg>
        <pc:picChg chg="del">
          <ac:chgData name="kovuri nizam" userId="a610bd2f6c0a5cf4" providerId="LiveId" clId="{AD7561CC-E29F-482C-8B2D-63DF8561265E}" dt="2026-04-20T12:02:26.326" v="20" actId="21"/>
          <ac:picMkLst>
            <pc:docMk/>
            <pc:sldMk cId="353308626" sldId="276"/>
            <ac:picMk id="6" creationId="{6DB416D8-79CF-86DB-9C32-7262F07BBF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 smtClean="0">
                <a:latin typeface="Cambria"/>
                <a:cs typeface="Cambria"/>
              </a:rPr>
              <a:t>SIH25048</a:t>
            </a:r>
            <a:r>
              <a:rPr lang="en-US" sz="2400" b="1" spc="-55" dirty="0" smtClean="0">
                <a:latin typeface="Cambria"/>
                <a:cs typeface="Cambria"/>
              </a:rPr>
              <a:t> - Gamified Learning Platform</a:t>
            </a:r>
          </a:p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5" dirty="0" smtClean="0">
                <a:latin typeface="Cambria"/>
                <a:cs typeface="Cambria"/>
              </a:rPr>
              <a:t>for Rural Education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 algn="l">
              <a:lnSpc>
                <a:spcPct val="100000"/>
              </a:lnSpc>
            </a:pP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b="1" u="sng" spc="-25" dirty="0" smtClean="0">
                <a:solidFill>
                  <a:srgbClr val="16365D"/>
                </a:solidFill>
                <a:latin typeface="Cambria"/>
                <a:cs typeface="Cambria"/>
              </a:rPr>
              <a:t>40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626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 smtClean="0">
                <a:solidFill>
                  <a:srgbClr val="16365D"/>
                </a:solidFill>
                <a:latin typeface="Cambria"/>
                <a:cs typeface="Cambria"/>
              </a:rPr>
              <a:t>Ms. </a:t>
            </a:r>
            <a:r>
              <a:rPr lang="en-IN" b="1" spc="-25" dirty="0" err="1" smtClean="0">
                <a:solidFill>
                  <a:srgbClr val="16365D"/>
                </a:solidFill>
                <a:latin typeface="Cambria"/>
                <a:cs typeface="Cambria"/>
              </a:rPr>
              <a:t>Priyanki</a:t>
            </a:r>
            <a:r>
              <a:rPr lang="en-IN" b="1" spc="-25" dirty="0" smtClean="0">
                <a:solidFill>
                  <a:srgbClr val="16365D"/>
                </a:solidFill>
                <a:latin typeface="Cambria"/>
                <a:cs typeface="Cambria"/>
              </a:rPr>
              <a:t> Dutta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32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 smtClean="0">
                <a:latin typeface="Cambria"/>
                <a:cs typeface="Cambria"/>
              </a:rPr>
              <a:t>20221ISE005</a:t>
            </a:r>
            <a:r>
              <a:rPr lang="en-US" sz="1800" b="1" spc="-10" dirty="0" smtClean="0">
                <a:latin typeface="Cambria"/>
                <a:cs typeface="Cambria"/>
              </a:rPr>
              <a:t>1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 smtClean="0">
                <a:latin typeface="Cambria"/>
                <a:cs typeface="Cambria"/>
              </a:rPr>
              <a:t>20221ISE00</a:t>
            </a:r>
            <a:r>
              <a:rPr lang="en-US" sz="1800" b="1" spc="-10" dirty="0" smtClean="0">
                <a:latin typeface="Cambria"/>
                <a:cs typeface="Cambria"/>
              </a:rPr>
              <a:t>79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 smtClean="0">
                <a:latin typeface="Cambria"/>
                <a:cs typeface="Cambria"/>
              </a:rPr>
              <a:t>20221ISE00</a:t>
            </a:r>
            <a:r>
              <a:rPr lang="en-US" sz="1800" b="1" spc="-10" dirty="0" smtClean="0">
                <a:latin typeface="Cambria"/>
                <a:cs typeface="Cambria"/>
              </a:rPr>
              <a:t>29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525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 smtClean="0">
                <a:solidFill>
                  <a:srgbClr val="16365D"/>
                </a:solidFill>
                <a:latin typeface="Cambria"/>
                <a:cs typeface="Cambria"/>
              </a:rPr>
              <a:t>Name</a:t>
            </a:r>
            <a:endParaRPr lang="en-US" sz="1800" b="1" spc="-20" dirty="0" smtClean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b="1" spc="-20" dirty="0" err="1" smtClean="0">
                <a:latin typeface="Cambria"/>
                <a:cs typeface="Cambria"/>
              </a:rPr>
              <a:t>Shivateja</a:t>
            </a:r>
            <a:r>
              <a:rPr lang="en-US" b="1" spc="-20" dirty="0" smtClean="0">
                <a:latin typeface="Cambria"/>
                <a:cs typeface="Cambria"/>
              </a:rPr>
              <a:t> </a:t>
            </a: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sz="1800" b="1" spc="-20" dirty="0" smtClean="0">
                <a:latin typeface="Cambria"/>
                <a:cs typeface="Cambria"/>
              </a:rPr>
              <a:t>Dhanaraj</a:t>
            </a: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b="1" spc="-20" dirty="0" err="1" smtClean="0">
                <a:latin typeface="Cambria"/>
                <a:cs typeface="Cambria"/>
              </a:rPr>
              <a:t>Darshan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4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</a:t>
            </a:r>
            <a:r>
              <a:rPr sz="1800" spc="-10" dirty="0" smtClean="0"/>
              <a:t>Review-</a:t>
            </a:r>
            <a:r>
              <a:rPr lang="en-US" sz="1800" spc="-50" dirty="0"/>
              <a:t>5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lang="en-US"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</a:t>
            </a:r>
            <a:r>
              <a:rPr lang="en-US" b="1" dirty="0"/>
              <a:t> </a:t>
            </a:r>
            <a:endParaRPr sz="1800" b="1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370701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System Testing and Result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Performance Analysis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Future enhancement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537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 smtClean="0">
                <a:latin typeface="Cambria"/>
                <a:cs typeface="Cambria"/>
              </a:rPr>
              <a:t>Problem</a:t>
            </a:r>
            <a:r>
              <a:rPr sz="1800" b="1" spc="250" dirty="0" smtClean="0">
                <a:latin typeface="Cambria"/>
                <a:cs typeface="Cambria"/>
              </a:rPr>
              <a:t> </a:t>
            </a:r>
            <a:r>
              <a:rPr sz="1800" b="1" dirty="0" smtClean="0">
                <a:latin typeface="Cambria"/>
                <a:cs typeface="Cambria"/>
              </a:rPr>
              <a:t>Description:</a:t>
            </a:r>
            <a:r>
              <a:rPr sz="1800" b="1" spc="254" dirty="0" smtClean="0">
                <a:latin typeface="Cambria"/>
                <a:cs typeface="Cambria"/>
              </a:rPr>
              <a:t>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rapid growth of digital education platforms has transformed the learning environment, but many existing e-learning systems still suffer from several major limitations. Most traditional platforms mainly focus on delivering static educational content and fail to provide interactive, engaging, and motivating learning experiences for students.</a:t>
            </a:r>
          </a:p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learning systems lack: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interaction between students and teachers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Competitive and collaborative learning environments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Gamification elements such as rewards, badges, and leaderboards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Student engagement and motivation tracking </a:t>
            </a:r>
          </a:p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Therefore, there is a need for a scalable, secure, and interactive gamified learning platform that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communication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Gamification techniques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Competitive learning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 analytics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Multi-user role management 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762000" y="1143000"/>
            <a:ext cx="10359390" cy="4386329"/>
          </a:xfrm>
        </p:spPr>
        <p:txBody>
          <a:bodyPr/>
          <a:lstStyle/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Develop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 Gamified Learning Platform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Design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and develop a complete interactive learning platform that improves student engagement using gamification concepts and competitive learning techniques.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Implement Multi-Role User Management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separate functionalities and dashboards for students, teachers, and administrators through role-based access control mechanisms.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Interactive Quiz and Tournament System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 quiz modules, real-time duels, tournaments, and challenge-based activities to create an engaging learning experience.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Enable Real-Time Communication and Interaction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live notifications, quiz duels, real-time score updates, and instant communication using Socket.io technology.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10744200" cy="410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Incorporate Gamification Features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 badges, leaderboards, achievements, rewards, and ranking systems to motivate students and encourage active participation.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 Secure Authentication and Data Management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Implement JWT-based authentication and secure database management for safe access and protected communication.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 Student Performance and Analytics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 performance monitoring, progress tracking, leaderboard analysis, and activity evaluation for effective learning assessment.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 a Scalable Cross-Platform System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 responsive and scalable application accessible through both web and mobile platforms using modern full-stack technologies.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4828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Cambria"/>
                <a:cs typeface="Cambria"/>
              </a:rPr>
              <a:t>1</a:t>
            </a:r>
            <a:r>
              <a:rPr sz="1600" b="1" spc="-10" dirty="0">
                <a:latin typeface="Cambria"/>
                <a:cs typeface="Cambria"/>
              </a:rPr>
              <a:t> Frontend</a:t>
            </a:r>
            <a:endParaRPr sz="1600" dirty="0">
              <a:latin typeface="Cambria"/>
              <a:cs typeface="Cambria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React.js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React Native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HTML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CSS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JavaScript</a:t>
            </a:r>
          </a:p>
          <a:p>
            <a:pPr marL="12700">
              <a:spcBef>
                <a:spcPts val="5"/>
              </a:spcBef>
            </a:pPr>
            <a:r>
              <a:rPr sz="1600" b="1" dirty="0" smtClean="0">
                <a:latin typeface="Cambria"/>
                <a:cs typeface="Cambria"/>
              </a:rPr>
              <a:t>2</a:t>
            </a:r>
            <a:r>
              <a:rPr sz="1600" b="1" spc="-10" dirty="0" smtClean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Backend</a:t>
            </a:r>
            <a:endParaRPr sz="1600" dirty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IN" sz="1600" dirty="0" smtClean="0"/>
              <a:t>Express.js</a:t>
            </a:r>
            <a:endParaRPr lang="en-US" sz="1600" spc="-20" dirty="0" smtClean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IN" sz="1600" dirty="0" smtClean="0"/>
              <a:t>Node.js</a:t>
            </a:r>
            <a:endParaRPr sz="1600" dirty="0">
              <a:latin typeface="Cambria"/>
              <a:cs typeface="Cambria"/>
            </a:endParaRPr>
          </a:p>
          <a:p>
            <a:pPr marL="12700"/>
            <a:r>
              <a:rPr sz="1600" b="1" dirty="0" smtClean="0">
                <a:latin typeface="Cambria"/>
                <a:cs typeface="Cambria"/>
              </a:rPr>
              <a:t>3</a:t>
            </a:r>
            <a:r>
              <a:rPr sz="1600" b="1" spc="-25" dirty="0" smtClean="0">
                <a:latin typeface="Cambria"/>
                <a:cs typeface="Cambria"/>
              </a:rPr>
              <a:t> </a:t>
            </a:r>
            <a:r>
              <a:rPr lang="en-IN" sz="1600" b="1" dirty="0" smtClean="0"/>
              <a:t>Real-Time Communication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Socket.io</a:t>
            </a:r>
            <a:endParaRPr sz="1600" dirty="0" smtClean="0">
              <a:latin typeface="Cambria"/>
              <a:cs typeface="Cambria"/>
            </a:endParaRPr>
          </a:p>
          <a:p>
            <a:pPr marL="12700"/>
            <a:r>
              <a:rPr sz="1600" b="1" dirty="0" smtClean="0">
                <a:latin typeface="Cambria"/>
                <a:cs typeface="Cambria"/>
              </a:rPr>
              <a:t>4</a:t>
            </a:r>
            <a:r>
              <a:rPr sz="1600" b="1" spc="-10" dirty="0" smtClean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Database</a:t>
            </a:r>
            <a:endParaRPr sz="1600" dirty="0">
              <a:latin typeface="Cambria"/>
              <a:cs typeface="Cambria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MongoDB</a:t>
            </a:r>
            <a:endParaRPr sz="1600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/>
            <a:r>
              <a:rPr sz="1600" b="1" dirty="0" smtClean="0">
                <a:latin typeface="Cambria"/>
                <a:cs typeface="Cambria"/>
              </a:rPr>
              <a:t>5</a:t>
            </a:r>
            <a:r>
              <a:rPr sz="1600" b="1" spc="-40" dirty="0" smtClean="0">
                <a:latin typeface="Cambria"/>
                <a:cs typeface="Cambria"/>
              </a:rPr>
              <a:t> </a:t>
            </a:r>
            <a:r>
              <a:rPr lang="en-US" sz="1600" b="1" dirty="0" smtClean="0">
                <a:latin typeface="Cambria"/>
                <a:cs typeface="Cambria"/>
              </a:rPr>
              <a:t>Authentication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/>
                <a:cs typeface="Cambria"/>
              </a:rPr>
              <a:t>JWT </a:t>
            </a:r>
            <a:r>
              <a:rPr lang="en-US" sz="1600" dirty="0" err="1" smtClean="0">
                <a:latin typeface="Cambria"/>
                <a:cs typeface="Cambria"/>
              </a:rPr>
              <a:t>Autentication</a:t>
            </a:r>
            <a:endParaRPr sz="1600" dirty="0">
              <a:latin typeface="Cambria"/>
              <a:cs typeface="Cambria"/>
            </a:endParaRPr>
          </a:p>
          <a:p>
            <a:pPr marL="12700">
              <a:spcBef>
                <a:spcPts val="960"/>
              </a:spcBef>
              <a:tabLst>
                <a:tab pos="297815" algn="l"/>
              </a:tabLst>
            </a:pPr>
            <a:r>
              <a:rPr lang="en-US" sz="1600" b="1" dirty="0" smtClean="0">
                <a:latin typeface="Cambria"/>
                <a:cs typeface="Cambria"/>
              </a:rPr>
              <a:t>6 Development Tools</a:t>
            </a:r>
          </a:p>
          <a:p>
            <a:pPr marL="298450" indent="-285750">
              <a:spcBef>
                <a:spcPts val="960"/>
              </a:spcBef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sz="1600" dirty="0" smtClean="0">
                <a:latin typeface="Cambria"/>
                <a:cs typeface="Cambria"/>
              </a:rPr>
              <a:t>Tools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like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Code,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lang="en-US" sz="1600" spc="-10" dirty="0" err="1" smtClean="0">
                <a:latin typeface="Cambria"/>
                <a:cs typeface="Cambria"/>
              </a:rPr>
              <a:t>Git</a:t>
            </a:r>
            <a:endParaRPr lang="en-US" sz="1600" spc="-10" dirty="0" smtClean="0">
              <a:latin typeface="Cambria"/>
              <a:cs typeface="Cambria"/>
            </a:endParaRPr>
          </a:p>
          <a:p>
            <a:pPr marL="12700">
              <a:spcBef>
                <a:spcPts val="960"/>
              </a:spcBef>
              <a:tabLst>
                <a:tab pos="297815" algn="l"/>
              </a:tabLst>
            </a:pPr>
            <a:r>
              <a:rPr lang="en-US" sz="1600" b="1" dirty="0" smtClean="0">
                <a:latin typeface="Cambria"/>
                <a:cs typeface="Cambria"/>
              </a:rPr>
              <a:t>7 </a:t>
            </a:r>
            <a:r>
              <a:rPr sz="1600" b="1" dirty="0" smtClean="0">
                <a:latin typeface="Cambria"/>
                <a:cs typeface="Cambria"/>
              </a:rPr>
              <a:t>Testing</a:t>
            </a:r>
            <a:r>
              <a:rPr sz="1600" b="1" spc="-35" dirty="0" smtClean="0">
                <a:latin typeface="Cambria"/>
                <a:cs typeface="Cambria"/>
              </a:rPr>
              <a:t> </a:t>
            </a:r>
            <a:r>
              <a:rPr sz="1600" b="1" dirty="0" smtClean="0">
                <a:latin typeface="Cambria"/>
                <a:cs typeface="Cambria"/>
              </a:rPr>
              <a:t>and</a:t>
            </a:r>
            <a:r>
              <a:rPr sz="1600" b="1" spc="-30" dirty="0" smtClean="0">
                <a:latin typeface="Cambria"/>
                <a:cs typeface="Cambria"/>
              </a:rPr>
              <a:t> </a:t>
            </a:r>
            <a:r>
              <a:rPr sz="1600" b="1" dirty="0" smtClean="0">
                <a:latin typeface="Cambria"/>
                <a:cs typeface="Cambria"/>
              </a:rPr>
              <a:t>Debugging:</a:t>
            </a:r>
            <a:r>
              <a:rPr sz="1600" b="1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Web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Browser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(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Chrome,</a:t>
            </a:r>
            <a:r>
              <a:rPr sz="1600" spc="-2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Firefox,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Edge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 smtClean="0">
                <a:latin typeface="Cambria"/>
                <a:cs typeface="Cambria"/>
              </a:rPr>
              <a:t>1</a:t>
            </a:r>
            <a:r>
              <a:rPr sz="1700" b="1" spc="-4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Development</a:t>
            </a:r>
            <a:r>
              <a:rPr sz="1700" b="1" spc="-40" dirty="0" smtClean="0">
                <a:latin typeface="Cambria"/>
                <a:cs typeface="Cambria"/>
              </a:rPr>
              <a:t> </a:t>
            </a:r>
            <a:r>
              <a:rPr sz="1700" b="1" spc="-10" dirty="0" smtClean="0">
                <a:latin typeface="Cambria"/>
                <a:cs typeface="Cambria"/>
              </a:rPr>
              <a:t>Machine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Processor: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modern</a:t>
            </a:r>
            <a:r>
              <a:rPr sz="1700" spc="-25" dirty="0" smtClean="0">
                <a:latin typeface="Cambria"/>
                <a:cs typeface="Cambria"/>
              </a:rPr>
              <a:t> </a:t>
            </a:r>
            <a:r>
              <a:rPr sz="1700" spc="-10" dirty="0" smtClean="0">
                <a:latin typeface="Cambria"/>
                <a:cs typeface="Cambria"/>
              </a:rPr>
              <a:t>multi-</a:t>
            </a:r>
            <a:r>
              <a:rPr sz="1700" dirty="0" smtClean="0">
                <a:latin typeface="Cambria"/>
                <a:cs typeface="Cambria"/>
              </a:rPr>
              <a:t>core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processor(</a:t>
            </a:r>
            <a:r>
              <a:rPr lang="sv-SE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 smtClean="0">
                <a:latin typeface="Cambria"/>
                <a:cs typeface="Cambria"/>
              </a:rPr>
              <a:t>)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RAM:</a:t>
            </a:r>
            <a:r>
              <a:rPr sz="1700" b="1" spc="-2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At</a:t>
            </a:r>
            <a:r>
              <a:rPr sz="1700" spc="-2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least</a:t>
            </a:r>
            <a:r>
              <a:rPr sz="1700" spc="-25" dirty="0" smtClean="0">
                <a:latin typeface="Cambria"/>
                <a:cs typeface="Cambria"/>
              </a:rPr>
              <a:t> </a:t>
            </a:r>
            <a:r>
              <a:rPr lang="en-US" sz="1700" spc="-25" dirty="0" smtClean="0">
                <a:latin typeface="Cambria"/>
                <a:cs typeface="Cambria"/>
              </a:rPr>
              <a:t>8</a:t>
            </a:r>
            <a:r>
              <a:rPr sz="1700" spc="-20" dirty="0" smtClean="0">
                <a:latin typeface="Cambria"/>
                <a:cs typeface="Cambria"/>
              </a:rPr>
              <a:t> </a:t>
            </a:r>
            <a:r>
              <a:rPr sz="1700" spc="-35" dirty="0" smtClean="0">
                <a:latin typeface="Cambria"/>
                <a:cs typeface="Cambria"/>
              </a:rPr>
              <a:t>GB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Storage: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lang="en-US" sz="1700" b="1" spc="-35" dirty="0" smtClean="0">
                <a:latin typeface="Cambria"/>
                <a:cs typeface="Cambria"/>
              </a:rPr>
              <a:t> </a:t>
            </a:r>
            <a:r>
              <a:rPr lang="en-US" sz="1700" spc="-35" dirty="0" smtClean="0">
                <a:latin typeface="Cambria"/>
                <a:cs typeface="Cambria"/>
              </a:rPr>
              <a:t>30</a:t>
            </a:r>
            <a:r>
              <a:rPr sz="1700" dirty="0" smtClean="0">
                <a:latin typeface="Cambria"/>
                <a:cs typeface="Cambria"/>
              </a:rPr>
              <a:t>GB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spc="-10" dirty="0" smtClean="0">
                <a:latin typeface="Cambria"/>
                <a:cs typeface="Cambria"/>
              </a:rPr>
              <a:t>recommended</a:t>
            </a:r>
            <a:endParaRPr sz="17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 smtClean="0">
                <a:latin typeface="Cambria"/>
                <a:cs typeface="Cambria"/>
              </a:rPr>
              <a:t>2</a:t>
            </a:r>
            <a:r>
              <a:rPr sz="1700" b="1" spc="-10" dirty="0" smtClean="0">
                <a:latin typeface="Cambria"/>
                <a:cs typeface="Cambria"/>
              </a:rPr>
              <a:t> Network: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Internet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Connection: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Stable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and</a:t>
            </a:r>
            <a:r>
              <a:rPr sz="1700" spc="28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standard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speed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internet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connection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for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development</a:t>
            </a:r>
            <a:r>
              <a:rPr sz="1700" spc="-4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and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spc="-10" dirty="0" err="1" smtClean="0">
                <a:latin typeface="Cambria"/>
                <a:cs typeface="Cambria"/>
              </a:rPr>
              <a:t>deployement</a:t>
            </a:r>
            <a:endParaRPr sz="17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 smtClean="0">
                <a:latin typeface="Cambria"/>
                <a:cs typeface="Cambria"/>
              </a:rPr>
              <a:t>3</a:t>
            </a:r>
            <a:r>
              <a:rPr sz="1700" b="1" spc="29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Additional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Hardware</a:t>
            </a:r>
            <a:r>
              <a:rPr sz="1700" b="1" spc="-25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(Optional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for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spc="-10" dirty="0" smtClean="0">
                <a:latin typeface="Cambria"/>
                <a:cs typeface="Cambria"/>
              </a:rPr>
              <a:t>Deployment)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313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Gamified Interactive Learning Platform: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Unlike traditional e-learning systems that mainly focus on static content delivery, this project provides a complete gamified learning environment using badges, leaderboards, tournaments, rewards, and achievements to improve student engagement and motivation.</a:t>
            </a:r>
            <a:endParaRPr sz="1600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Quiz Duel and Communication System:</a:t>
            </a:r>
            <a:b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platform integrates Socket.io–based real-time communication to support live quiz duels, instant notifications, real-time score updates, and interactive learning experiences.</a:t>
            </a: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Multi-Role Educational Management System: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system provides dedicated dashboards and functionalities for students, teachers, and administrators, ensuring efficient content management, monitoring, and user interaction.</a:t>
            </a: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Cross-Platform Learning Accessibility: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application supports both web and mobile platforms using React.js and React Native technologies, allowing users to access educational resources anytime and anywhere.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4862228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Tracking and Analytics System: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platform continuously tracks student performance, rankings, achievements, quiz scores, and participation levels to provide detailed educational analytics.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Secure and Scalable Full-Stack Architecture: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integrates JWT authentication, MongoDB database management, and modular backend architecture to ensure secure communication, scalability, and efficient system performance.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Interactive Competitive Learning Environment: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Students can participate in quizzes, tournaments, missions, and leaderboard competitions, creating an engaging and collaborative educational ecosystem.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8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Future-Ready System Design: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support future integration of AI-based recommendations, adaptive learning systems, AR/VR educational features, and advanced analytics modules.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43000"/>
            <a:ext cx="9091714" cy="49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System Testing and Results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90905" y="990600"/>
            <a:ext cx="10359390" cy="512499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Authentication Testing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JWT-based login and registration functionalities were tested successfully for students, teachers, and administrators.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Quiz and Tournament Testing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Quiz modules, tournaments, missions, and duel systems were tested for score generation, ranking updates, and performance evaluation.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Real-Time Communication Testing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Socket.io implementation was tested successfully for instant notifications, leaderboard synchronization, and live quiz duels.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Database and API Testing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MongoDB database integration and backend APIs were tested for efficient data storage, retrieval, and system scalability.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Overall Result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platform successfully delivered an interactive, scalable, and real-time gamified learning environment with secure authentication and efficient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Performance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755661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 Performance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platform efficiently handled multiple concurrent users with low response time and stable real-time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synchronization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User Engagement Improvement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Gamification elements such as badges, tournaments, achievements, and leaderboards increased student participation and interaction.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Real-Time Communication Efficiency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Socket.io enabled fast notification delivery, instant score updates, and live duel synchronization with minimal latency.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Database Performance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MongoDB provided flexible and scalable storage for quizzes, lessons, achievements, analytics, and educational resources.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Cross-Platform Accessibility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system successfully supported both web and mobile environments using React.js and React Native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74546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7556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Future Enhancements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Artificial Intelligence–Based Learning Recommendations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of AI-driven personalized learning suggestions and adaptive quiz generation systems.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AR/VR Educational Environment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Integration of immersive AR/VR-based learning experiences for interactive education.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Voice Assistant and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Chatbot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Integration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Development of voice-enabled assistants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chatbot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systems for better communication and accessibility.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Advanced Analytics Dashboard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of advanced performance visualization and predictive analytics modules.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Learning Support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Support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offline educational content access and synchronization mechanisms.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Cloud-Based Scalability Enhancements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Deployment optimization for handling large-scale concurrent educational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81603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Link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369332"/>
          </a:xfrm>
        </p:spPr>
        <p:txBody>
          <a:bodyPr/>
          <a:lstStyle/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https://github.com/dhanaraj99/SyncLearn_Gamified_learning_platform.git</a:t>
            </a:r>
          </a:p>
        </p:txBody>
      </p:sp>
    </p:spTree>
    <p:extLst>
      <p:ext uri="{BB962C8B-B14F-4D97-AF65-F5344CB8AC3E}">
        <p14:creationId xmlns:p14="http://schemas.microsoft.com/office/powerpoint/2010/main" val="381554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634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Cambria</vt:lpstr>
      <vt:lpstr>Times New Roman</vt:lpstr>
      <vt:lpstr>Verdana</vt:lpstr>
      <vt:lpstr>Office Theme</vt:lpstr>
      <vt:lpstr>CSE7302- University Project Review-5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System Testing and Results</vt:lpstr>
      <vt:lpstr>Performance Analysis</vt:lpstr>
      <vt:lpstr>Future Enhancements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dhanaraj dhammure</cp:lastModifiedBy>
  <cp:revision>23</cp:revision>
  <dcterms:created xsi:type="dcterms:W3CDTF">2025-08-10T14:24:47Z</dcterms:created>
  <dcterms:modified xsi:type="dcterms:W3CDTF">2026-05-12T18:46:49Z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