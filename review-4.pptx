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72" r:id="rId11"/>
    <p:sldId id="271" r:id="rId12"/>
    <p:sldId id="275" r:id="rId13"/>
    <p:sldId id="276" r:id="rId14"/>
    <p:sldId id="274" r:id="rId15"/>
    <p:sldId id="270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858FE7-063A-4DBD-B20A-D27D511E665A}" v="16" dt="2026-04-20T12:05:45.72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46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vuri nizam" userId="a610bd2f6c0a5cf4" providerId="LiveId" clId="{AD7561CC-E29F-482C-8B2D-63DF8561265E}"/>
    <pc:docChg chg="custSel addSld delSld modSld sldOrd">
      <pc:chgData name="kovuri nizam" userId="a610bd2f6c0a5cf4" providerId="LiveId" clId="{AD7561CC-E29F-482C-8B2D-63DF8561265E}" dt="2026-04-20T12:29:38.926" v="97" actId="2696"/>
      <pc:docMkLst>
        <pc:docMk/>
      </pc:docMkLst>
      <pc:sldChg chg="modSp mod">
        <pc:chgData name="kovuri nizam" userId="a610bd2f6c0a5cf4" providerId="LiveId" clId="{AD7561CC-E29F-482C-8B2D-63DF8561265E}" dt="2026-04-20T12:07:00.042" v="95" actId="20577"/>
        <pc:sldMkLst>
          <pc:docMk/>
          <pc:sldMk cId="0" sldId="256"/>
        </pc:sldMkLst>
        <pc:spChg chg="mod">
          <ac:chgData name="kovuri nizam" userId="a610bd2f6c0a5cf4" providerId="LiveId" clId="{AD7561CC-E29F-482C-8B2D-63DF8561265E}" dt="2026-04-20T12:07:00.042" v="95" actId="20577"/>
          <ac:spMkLst>
            <pc:docMk/>
            <pc:sldMk cId="0" sldId="256"/>
            <ac:spMk id="6" creationId="{00000000-0000-0000-0000-000000000000}"/>
          </ac:spMkLst>
        </pc:spChg>
      </pc:sldChg>
      <pc:sldChg chg="modSp ord">
        <pc:chgData name="kovuri nizam" userId="a610bd2f6c0a5cf4" providerId="LiveId" clId="{AD7561CC-E29F-482C-8B2D-63DF8561265E}" dt="2026-04-20T11:59:08.463" v="3"/>
        <pc:sldMkLst>
          <pc:docMk/>
          <pc:sldMk cId="3036710442" sldId="273"/>
        </pc:sldMkLst>
        <pc:spChg chg="mod">
          <ac:chgData name="kovuri nizam" userId="a610bd2f6c0a5cf4" providerId="LiveId" clId="{AD7561CC-E29F-482C-8B2D-63DF8561265E}" dt="2026-04-20T11:58:11.254" v="0"/>
          <ac:spMkLst>
            <pc:docMk/>
            <pc:sldMk cId="3036710442" sldId="273"/>
            <ac:spMk id="2" creationId="{4BE9938D-563F-9673-220B-0D9DBCCF5EF0}"/>
          </ac:spMkLst>
        </pc:spChg>
      </pc:sldChg>
      <pc:sldChg chg="modSp ord">
        <pc:chgData name="kovuri nizam" userId="a610bd2f6c0a5cf4" providerId="LiveId" clId="{AD7561CC-E29F-482C-8B2D-63DF8561265E}" dt="2026-04-20T11:59:10.818" v="5"/>
        <pc:sldMkLst>
          <pc:docMk/>
          <pc:sldMk cId="3505626533" sldId="274"/>
        </pc:sldMkLst>
        <pc:spChg chg="mod">
          <ac:chgData name="kovuri nizam" userId="a610bd2f6c0a5cf4" providerId="LiveId" clId="{AD7561CC-E29F-482C-8B2D-63DF8561265E}" dt="2026-04-20T11:58:17.268" v="1"/>
          <ac:spMkLst>
            <pc:docMk/>
            <pc:sldMk cId="3505626533" sldId="274"/>
            <ac:spMk id="2" creationId="{3F7F0980-E34B-6230-FAFE-98DC27B6714E}"/>
          </ac:spMkLst>
        </pc:spChg>
      </pc:sldChg>
      <pc:sldChg chg="addSp delSp modSp add del mod ord">
        <pc:chgData name="kovuri nizam" userId="a610bd2f6c0a5cf4" providerId="LiveId" clId="{AD7561CC-E29F-482C-8B2D-63DF8561265E}" dt="2026-04-20T12:29:35.065" v="96" actId="2696"/>
        <pc:sldMkLst>
          <pc:docMk/>
          <pc:sldMk cId="200229679" sldId="275"/>
        </pc:sldMkLst>
        <pc:spChg chg="mod">
          <ac:chgData name="kovuri nizam" userId="a610bd2f6c0a5cf4" providerId="LiveId" clId="{AD7561CC-E29F-482C-8B2D-63DF8561265E}" dt="2026-04-20T12:01:05.641" v="18" actId="20577"/>
          <ac:spMkLst>
            <pc:docMk/>
            <pc:sldMk cId="200229679" sldId="275"/>
            <ac:spMk id="2" creationId="{845BA5B7-E01B-E4B6-6D0B-FF421995154D}"/>
          </ac:spMkLst>
        </pc:spChg>
        <pc:picChg chg="del">
          <ac:chgData name="kovuri nizam" userId="a610bd2f6c0a5cf4" providerId="LiveId" clId="{AD7561CC-E29F-482C-8B2D-63DF8561265E}" dt="2026-04-20T11:59:57.305" v="9" actId="21"/>
          <ac:picMkLst>
            <pc:docMk/>
            <pc:sldMk cId="200229679" sldId="275"/>
            <ac:picMk id="4" creationId="{543F889B-086A-B234-F4DC-DF69B405F744}"/>
          </ac:picMkLst>
        </pc:picChg>
        <pc:picChg chg="add del mod">
          <ac:chgData name="kovuri nizam" userId="a610bd2f6c0a5cf4" providerId="LiveId" clId="{AD7561CC-E29F-482C-8B2D-63DF8561265E}" dt="2026-04-20T12:00:22.940" v="12" actId="21"/>
          <ac:picMkLst>
            <pc:docMk/>
            <pc:sldMk cId="200229679" sldId="275"/>
            <ac:picMk id="5" creationId="{AD0B4F95-0C56-CCEC-9511-EC6F45D6B644}"/>
          </ac:picMkLst>
        </pc:picChg>
        <pc:picChg chg="add mod">
          <ac:chgData name="kovuri nizam" userId="a610bd2f6c0a5cf4" providerId="LiveId" clId="{AD7561CC-E29F-482C-8B2D-63DF8561265E}" dt="2026-04-20T12:00:41.371" v="16" actId="14100"/>
          <ac:picMkLst>
            <pc:docMk/>
            <pc:sldMk cId="200229679" sldId="275"/>
            <ac:picMk id="6" creationId="{9B320800-575C-7897-9932-8949B32E1D0B}"/>
          </ac:picMkLst>
        </pc:picChg>
      </pc:sldChg>
      <pc:sldChg chg="addSp delSp modSp add del mod">
        <pc:chgData name="kovuri nizam" userId="a610bd2f6c0a5cf4" providerId="LiveId" clId="{AD7561CC-E29F-482C-8B2D-63DF8561265E}" dt="2026-04-20T12:29:38.926" v="97" actId="2696"/>
        <pc:sldMkLst>
          <pc:docMk/>
          <pc:sldMk cId="353308626" sldId="276"/>
        </pc:sldMkLst>
        <pc:spChg chg="del mod">
          <ac:chgData name="kovuri nizam" userId="a610bd2f6c0a5cf4" providerId="LiveId" clId="{AD7561CC-E29F-482C-8B2D-63DF8561265E}" dt="2026-04-20T12:04:56.231" v="47"/>
          <ac:spMkLst>
            <pc:docMk/>
            <pc:sldMk cId="353308626" sldId="276"/>
            <ac:spMk id="3" creationId="{9F02DCCA-B0E2-EFFF-9B2D-2C22BD9FF931}"/>
          </ac:spMkLst>
        </pc:spChg>
        <pc:spChg chg="add del mod">
          <ac:chgData name="kovuri nizam" userId="a610bd2f6c0a5cf4" providerId="LiveId" clId="{AD7561CC-E29F-482C-8B2D-63DF8561265E}" dt="2026-04-20T12:03:52.726" v="40"/>
          <ac:spMkLst>
            <pc:docMk/>
            <pc:sldMk cId="353308626" sldId="276"/>
            <ac:spMk id="5" creationId="{3077E4EB-D227-E3EA-075E-73E9ECB02646}"/>
          </ac:spMkLst>
        </pc:spChg>
        <pc:spChg chg="add">
          <ac:chgData name="kovuri nizam" userId="a610bd2f6c0a5cf4" providerId="LiveId" clId="{AD7561CC-E29F-482C-8B2D-63DF8561265E}" dt="2026-04-20T12:04:39.865" v="45"/>
          <ac:spMkLst>
            <pc:docMk/>
            <pc:sldMk cId="353308626" sldId="276"/>
            <ac:spMk id="7" creationId="{777D349B-A71F-C9E4-7185-D31FA0D303B0}"/>
          </ac:spMkLst>
        </pc:spChg>
        <pc:spChg chg="add mod">
          <ac:chgData name="kovuri nizam" userId="a610bd2f6c0a5cf4" providerId="LiveId" clId="{AD7561CC-E29F-482C-8B2D-63DF8561265E}" dt="2026-04-20T12:05:45.720" v="93" actId="1076"/>
          <ac:spMkLst>
            <pc:docMk/>
            <pc:sldMk cId="353308626" sldId="276"/>
            <ac:spMk id="8" creationId="{3EB25952-4C0B-D0BA-C547-5A236E40E3E8}"/>
          </ac:spMkLst>
        </pc:spChg>
        <pc:picChg chg="add del mod">
          <ac:chgData name="kovuri nizam" userId="a610bd2f6c0a5cf4" providerId="LiveId" clId="{AD7561CC-E29F-482C-8B2D-63DF8561265E}" dt="2026-04-20T12:02:38.289" v="22" actId="478"/>
          <ac:picMkLst>
            <pc:docMk/>
            <pc:sldMk cId="353308626" sldId="276"/>
            <ac:picMk id="4" creationId="{6DB416D8-79CF-86DB-9C32-7262F07BBFCD}"/>
          </ac:picMkLst>
        </pc:picChg>
        <pc:picChg chg="del">
          <ac:chgData name="kovuri nizam" userId="a610bd2f6c0a5cf4" providerId="LiveId" clId="{AD7561CC-E29F-482C-8B2D-63DF8561265E}" dt="2026-04-20T12:02:26.326" v="20" actId="21"/>
          <ac:picMkLst>
            <pc:docMk/>
            <pc:sldMk cId="353308626" sldId="276"/>
            <ac:picMk id="6" creationId="{6DB416D8-79CF-86DB-9C32-7262F07BBFC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2800" y="885824"/>
            <a:ext cx="10668000" cy="57150"/>
          </a:xfrm>
          <a:custGeom>
            <a:avLst/>
            <a:gdLst/>
            <a:ahLst/>
            <a:cxnLst/>
            <a:rect l="l" t="t" r="r" b="b"/>
            <a:pathLst>
              <a:path w="10668000" h="57150">
                <a:moveTo>
                  <a:pt x="10668000" y="45720"/>
                </a:moveTo>
                <a:lnTo>
                  <a:pt x="0" y="45720"/>
                </a:lnTo>
                <a:lnTo>
                  <a:pt x="0" y="57150"/>
                </a:lnTo>
                <a:lnTo>
                  <a:pt x="10668000" y="57150"/>
                </a:lnTo>
                <a:lnTo>
                  <a:pt x="10668000" y="45720"/>
                </a:lnTo>
                <a:close/>
              </a:path>
              <a:path w="10668000" h="57150">
                <a:moveTo>
                  <a:pt x="10668000" y="0"/>
                </a:moveTo>
                <a:lnTo>
                  <a:pt x="0" y="0"/>
                </a:lnTo>
                <a:lnTo>
                  <a:pt x="0" y="34290"/>
                </a:lnTo>
                <a:lnTo>
                  <a:pt x="10668000" y="34290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990844"/>
            <a:ext cx="12192000" cy="8671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800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43305" y="1169669"/>
            <a:ext cx="10359390" cy="4657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8578" y="1344688"/>
            <a:ext cx="8544560" cy="1318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5130" algn="ctr">
              <a:lnSpc>
                <a:spcPct val="100000"/>
              </a:lnSpc>
              <a:spcBef>
                <a:spcPts val="100"/>
              </a:spcBef>
            </a:pPr>
            <a:r>
              <a:rPr lang="en-US" sz="2400" b="1" spc="-20" dirty="0" smtClean="0">
                <a:latin typeface="Cambria"/>
                <a:cs typeface="Cambria"/>
              </a:rPr>
              <a:t>SIH25048</a:t>
            </a:r>
            <a:r>
              <a:rPr lang="en-US" sz="2400" b="1" spc="-55" dirty="0" smtClean="0">
                <a:latin typeface="Cambria"/>
                <a:cs typeface="Cambria"/>
              </a:rPr>
              <a:t> - Gamified Learning Platform</a:t>
            </a:r>
          </a:p>
          <a:p>
            <a:pPr marL="1675130" algn="ctr">
              <a:lnSpc>
                <a:spcPct val="100000"/>
              </a:lnSpc>
              <a:spcBef>
                <a:spcPts val="100"/>
              </a:spcBef>
            </a:pPr>
            <a:r>
              <a:rPr lang="en-US" sz="2400" b="1" spc="-55" smtClean="0">
                <a:latin typeface="Cambria"/>
                <a:cs typeface="Cambria"/>
              </a:rPr>
              <a:t>for Rural Education</a:t>
            </a:r>
            <a:endParaRPr lang="en-US" sz="2400" smtClean="0">
              <a:latin typeface="Cambria"/>
              <a:cs typeface="Cambria"/>
            </a:endParaRPr>
          </a:p>
          <a:p>
            <a:pPr marL="12700" algn="l">
              <a:lnSpc>
                <a:spcPct val="100000"/>
              </a:lnSpc>
            </a:pPr>
            <a:r>
              <a:rPr lang="en-US" sz="1800" b="1" smtClean="0">
                <a:solidFill>
                  <a:srgbClr val="16365D"/>
                </a:solidFill>
                <a:latin typeface="Cambria"/>
                <a:cs typeface="Cambria"/>
              </a:rPr>
              <a:t>Batch</a:t>
            </a:r>
            <a:r>
              <a:rPr lang="en-US" sz="1800" b="1" spc="-40" smtClean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lang="en-US" sz="1800" b="1" dirty="0">
                <a:solidFill>
                  <a:srgbClr val="16365D"/>
                </a:solidFill>
                <a:latin typeface="Cambria"/>
                <a:cs typeface="Cambria"/>
              </a:rPr>
              <a:t>Number:</a:t>
            </a:r>
            <a:r>
              <a:rPr lang="en-US" sz="1800" b="1" spc="-30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lang="en-US" sz="1800" b="1" u="sng" dirty="0">
                <a:solidFill>
                  <a:srgbClr val="16365D"/>
                </a:solidFill>
                <a:latin typeface="Cambria"/>
                <a:cs typeface="Cambria"/>
              </a:rPr>
              <a:t>ISE</a:t>
            </a:r>
            <a:r>
              <a:rPr lang="en-US" sz="1800" b="1" u="sng" spc="-3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lang="en-US" b="1" u="sng" spc="-25" dirty="0" smtClean="0">
                <a:solidFill>
                  <a:srgbClr val="16365D"/>
                </a:solidFill>
                <a:latin typeface="Cambria"/>
                <a:cs typeface="Cambria"/>
              </a:rPr>
              <a:t>40</a:t>
            </a:r>
            <a:endParaRPr lang="en-US" b="1" u="sng" spc="-25" dirty="0">
              <a:solidFill>
                <a:srgbClr val="16365D"/>
              </a:solidFill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endParaRPr sz="1800" dirty="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58280" y="2703195"/>
            <a:ext cx="4676140" cy="16263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95805">
              <a:lnSpc>
                <a:spcPct val="115700"/>
              </a:lnSpc>
              <a:spcBef>
                <a:spcPts val="100"/>
              </a:spcBef>
            </a:pP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Under</a:t>
            </a:r>
            <a:r>
              <a:rPr sz="1800" b="1" spc="-5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the</a:t>
            </a:r>
            <a:r>
              <a:rPr sz="1800" b="1" spc="-50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Supervision</a:t>
            </a:r>
            <a:r>
              <a:rPr sz="1800" b="1" spc="-5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spc="-25" dirty="0">
                <a:solidFill>
                  <a:srgbClr val="16365D"/>
                </a:solidFill>
                <a:latin typeface="Cambria"/>
                <a:cs typeface="Cambria"/>
              </a:rPr>
              <a:t>of, </a:t>
            </a:r>
            <a:endParaRPr lang="en-US" b="1" spc="-25" dirty="0">
              <a:solidFill>
                <a:srgbClr val="16365D"/>
              </a:solidFill>
              <a:latin typeface="Cambria"/>
              <a:cs typeface="Cambria"/>
            </a:endParaRPr>
          </a:p>
          <a:p>
            <a:pPr marL="12700" marR="1995805">
              <a:lnSpc>
                <a:spcPct val="115700"/>
              </a:lnSpc>
              <a:spcBef>
                <a:spcPts val="100"/>
              </a:spcBef>
            </a:pPr>
            <a:r>
              <a:rPr lang="en-IN" sz="1800" b="1" spc="-25" dirty="0" smtClean="0">
                <a:solidFill>
                  <a:srgbClr val="16365D"/>
                </a:solidFill>
                <a:latin typeface="Cambria"/>
                <a:cs typeface="Cambria"/>
              </a:rPr>
              <a:t>Ms. </a:t>
            </a:r>
            <a:r>
              <a:rPr lang="en-IN" b="1" spc="-25" dirty="0" err="1" smtClean="0">
                <a:solidFill>
                  <a:srgbClr val="16365D"/>
                </a:solidFill>
                <a:latin typeface="Cambria"/>
                <a:cs typeface="Cambria"/>
              </a:rPr>
              <a:t>Priyanki</a:t>
            </a:r>
            <a:r>
              <a:rPr lang="en-IN" b="1" spc="-25" dirty="0" smtClean="0">
                <a:solidFill>
                  <a:srgbClr val="16365D"/>
                </a:solidFill>
                <a:latin typeface="Cambria"/>
                <a:cs typeface="Cambria"/>
              </a:rPr>
              <a:t> Dutta</a:t>
            </a:r>
            <a:endParaRPr sz="1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800" b="1" dirty="0">
                <a:latin typeface="Cambria"/>
                <a:cs typeface="Cambria"/>
              </a:rPr>
              <a:t>Assistant</a:t>
            </a:r>
            <a:r>
              <a:rPr sz="1800" b="1" spc="-7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Professor</a:t>
            </a:r>
            <a:endParaRPr sz="1800" dirty="0">
              <a:latin typeface="Cambria"/>
              <a:cs typeface="Cambria"/>
            </a:endParaRPr>
          </a:p>
          <a:p>
            <a:pPr marL="12700" marR="5080">
              <a:lnSpc>
                <a:spcPct val="115700"/>
              </a:lnSpc>
            </a:pPr>
            <a:r>
              <a:rPr sz="1800" b="1" dirty="0">
                <a:latin typeface="Cambria"/>
                <a:cs typeface="Cambria"/>
              </a:rPr>
              <a:t>School</a:t>
            </a:r>
            <a:r>
              <a:rPr sz="1800" b="1" spc="-5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of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Computer</a:t>
            </a:r>
            <a:r>
              <a:rPr sz="1800" b="1" spc="-5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Science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and</a:t>
            </a:r>
            <a:r>
              <a:rPr sz="1800" b="1" spc="-5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Engineering </a:t>
            </a:r>
            <a:r>
              <a:rPr sz="1800" b="1" dirty="0">
                <a:latin typeface="Cambria"/>
                <a:cs typeface="Cambria"/>
              </a:rPr>
              <a:t>Presidency</a:t>
            </a:r>
            <a:r>
              <a:rPr sz="1800" b="1" spc="-70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University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000" y="2684780"/>
            <a:ext cx="1572895" cy="14832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8585">
              <a:lnSpc>
                <a:spcPct val="133300"/>
              </a:lnSpc>
              <a:spcBef>
                <a:spcPts val="100"/>
              </a:spcBef>
            </a:pP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Roll</a:t>
            </a:r>
            <a:r>
              <a:rPr sz="1800" b="1" spc="-2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16365D"/>
                </a:solidFill>
                <a:latin typeface="Cambria"/>
                <a:cs typeface="Cambria"/>
              </a:rPr>
              <a:t>Number </a:t>
            </a:r>
            <a:r>
              <a:rPr sz="1800" b="1" spc="-10" dirty="0" smtClean="0">
                <a:latin typeface="Cambria"/>
                <a:cs typeface="Cambria"/>
              </a:rPr>
              <a:t>20221ISE005</a:t>
            </a:r>
            <a:r>
              <a:rPr lang="en-US" sz="1800" b="1" spc="-10" dirty="0" smtClean="0">
                <a:latin typeface="Cambria"/>
                <a:cs typeface="Cambria"/>
              </a:rPr>
              <a:t>1</a:t>
            </a:r>
            <a:endParaRPr sz="1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800" b="1" spc="-10" dirty="0" smtClean="0">
                <a:latin typeface="Cambria"/>
                <a:cs typeface="Cambria"/>
              </a:rPr>
              <a:t>20221ISE00</a:t>
            </a:r>
            <a:r>
              <a:rPr lang="en-US" sz="1800" b="1" spc="-10" dirty="0" smtClean="0">
                <a:latin typeface="Cambria"/>
                <a:cs typeface="Cambria"/>
              </a:rPr>
              <a:t>79</a:t>
            </a:r>
            <a:endParaRPr sz="1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800" b="1" spc="-10" dirty="0" smtClean="0">
                <a:latin typeface="Cambria"/>
                <a:cs typeface="Cambria"/>
              </a:rPr>
              <a:t>20221ISE00</a:t>
            </a:r>
            <a:r>
              <a:rPr lang="en-US" sz="1800" b="1" spc="-10" dirty="0" smtClean="0">
                <a:latin typeface="Cambria"/>
                <a:cs typeface="Cambria"/>
              </a:rPr>
              <a:t>29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17786" y="2655798"/>
            <a:ext cx="2446655" cy="15250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39750">
              <a:lnSpc>
                <a:spcPct val="133300"/>
              </a:lnSpc>
              <a:spcBef>
                <a:spcPts val="100"/>
              </a:spcBef>
            </a:pP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Student</a:t>
            </a:r>
            <a:r>
              <a:rPr sz="1800" b="1" spc="-7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spc="-20" dirty="0" smtClean="0">
                <a:solidFill>
                  <a:srgbClr val="16365D"/>
                </a:solidFill>
                <a:latin typeface="Cambria"/>
                <a:cs typeface="Cambria"/>
              </a:rPr>
              <a:t>Name</a:t>
            </a:r>
            <a:endParaRPr lang="en-US" sz="1800" b="1" spc="-20" dirty="0" smtClean="0">
              <a:solidFill>
                <a:srgbClr val="16365D"/>
              </a:solidFill>
              <a:latin typeface="Cambria"/>
              <a:cs typeface="Cambria"/>
            </a:endParaRPr>
          </a:p>
          <a:p>
            <a:pPr marL="12700" marR="5080" indent="539750">
              <a:lnSpc>
                <a:spcPct val="133300"/>
              </a:lnSpc>
              <a:spcBef>
                <a:spcPts val="100"/>
              </a:spcBef>
            </a:pPr>
            <a:r>
              <a:rPr lang="en-US" b="1" spc="-20" dirty="0" err="1" smtClean="0">
                <a:latin typeface="Cambria"/>
                <a:cs typeface="Cambria"/>
              </a:rPr>
              <a:t>Shivateja</a:t>
            </a:r>
            <a:r>
              <a:rPr lang="en-US" b="1" spc="-20" dirty="0" smtClean="0">
                <a:latin typeface="Cambria"/>
                <a:cs typeface="Cambria"/>
              </a:rPr>
              <a:t> </a:t>
            </a:r>
          </a:p>
          <a:p>
            <a:pPr marL="12700" marR="5080" indent="539750">
              <a:lnSpc>
                <a:spcPct val="133300"/>
              </a:lnSpc>
              <a:spcBef>
                <a:spcPts val="100"/>
              </a:spcBef>
            </a:pPr>
            <a:r>
              <a:rPr lang="en-US" sz="1800" b="1" spc="-20" dirty="0" smtClean="0">
                <a:latin typeface="Cambria"/>
                <a:cs typeface="Cambria"/>
              </a:rPr>
              <a:t>Dhanaraj</a:t>
            </a:r>
          </a:p>
          <a:p>
            <a:pPr marL="12700" marR="5080" indent="539750">
              <a:lnSpc>
                <a:spcPct val="133300"/>
              </a:lnSpc>
              <a:spcBef>
                <a:spcPts val="100"/>
              </a:spcBef>
            </a:pPr>
            <a:r>
              <a:rPr lang="en-US" b="1" spc="-20" dirty="0" err="1" smtClean="0">
                <a:latin typeface="Cambria"/>
                <a:cs typeface="Cambria"/>
              </a:rPr>
              <a:t>Darshan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157470" y="121830"/>
            <a:ext cx="3081529" cy="64376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33450" marR="5080" indent="-920750">
              <a:lnSpc>
                <a:spcPct val="114399"/>
              </a:lnSpc>
              <a:spcBef>
                <a:spcPts val="95"/>
              </a:spcBef>
            </a:pPr>
            <a:r>
              <a:rPr sz="1800" dirty="0"/>
              <a:t>CSE7</a:t>
            </a:r>
            <a:r>
              <a:rPr lang="en-US" sz="1800" dirty="0"/>
              <a:t>3</a:t>
            </a:r>
            <a:r>
              <a:rPr sz="1800" dirty="0"/>
              <a:t>0</a:t>
            </a:r>
            <a:r>
              <a:rPr lang="en-US" sz="1800" dirty="0"/>
              <a:t>2</a:t>
            </a:r>
            <a:r>
              <a:rPr sz="1800" dirty="0"/>
              <a:t>-</a:t>
            </a:r>
            <a:r>
              <a:rPr sz="1800" spc="-65" dirty="0"/>
              <a:t> </a:t>
            </a:r>
            <a:r>
              <a:rPr lang="en-US" sz="1800" spc="-65" dirty="0"/>
              <a:t>University</a:t>
            </a:r>
            <a:r>
              <a:rPr sz="1800" spc="-65" dirty="0"/>
              <a:t> </a:t>
            </a:r>
            <a:r>
              <a:rPr sz="1800" spc="-10" dirty="0"/>
              <a:t>Project </a:t>
            </a:r>
            <a:r>
              <a:rPr sz="1800" spc="-10" dirty="0" smtClean="0"/>
              <a:t>Review-</a:t>
            </a:r>
            <a:r>
              <a:rPr lang="en-US" sz="1800" spc="-50" dirty="0"/>
              <a:t>4</a:t>
            </a:r>
            <a:endParaRPr sz="1800" dirty="0"/>
          </a:p>
        </p:txBody>
      </p:sp>
      <p:sp>
        <p:nvSpPr>
          <p:cNvPr id="7" name="object 7"/>
          <p:cNvSpPr txBox="1"/>
          <p:nvPr/>
        </p:nvSpPr>
        <p:spPr>
          <a:xfrm>
            <a:off x="78105" y="4558665"/>
            <a:ext cx="7527925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Name</a:t>
            </a:r>
            <a:r>
              <a:rPr sz="1800" b="1" spc="-3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sz="1800" b="1" spc="-3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sz="1800" b="1" spc="-3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Program:</a:t>
            </a:r>
            <a:r>
              <a:rPr sz="1800" b="1" spc="-2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B.Tech</a:t>
            </a:r>
            <a:endParaRPr sz="1800" dirty="0">
              <a:latin typeface="Cambria"/>
              <a:cs typeface="Cambria"/>
            </a:endParaRPr>
          </a:p>
          <a:p>
            <a:pPr>
              <a:buClr>
                <a:srgbClr val="17365D"/>
              </a:buClr>
              <a:buSzPct val="100000"/>
            </a:pP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Name</a:t>
            </a:r>
            <a:r>
              <a:rPr sz="1800" b="1" spc="-1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sz="1800" b="1" spc="-1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sz="1800" b="1" spc="-1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HoD:</a:t>
            </a:r>
            <a:r>
              <a:rPr sz="1800" b="1" spc="-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</a:t>
            </a: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Gopal Shyam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Name</a:t>
            </a:r>
            <a:r>
              <a:rPr sz="1800" b="1" spc="-2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sz="1800" b="1" spc="-2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sz="1800" b="1" spc="-2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School</a:t>
            </a:r>
            <a:r>
              <a:rPr sz="1800" b="1" spc="-2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Project</a:t>
            </a:r>
            <a:r>
              <a:rPr sz="1800" b="1" spc="-2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4F81BC"/>
                </a:solidFill>
                <a:latin typeface="Cambria"/>
                <a:cs typeface="Cambria"/>
              </a:rPr>
              <a:t>Coordinators:</a:t>
            </a:r>
            <a:r>
              <a:rPr lang="en-US" sz="1800" b="1" spc="-1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Ms. Sumita Guddin</a:t>
            </a:r>
            <a:r>
              <a:rPr lang="en-US" b="1" dirty="0"/>
              <a:t> </a:t>
            </a:r>
            <a:endParaRPr sz="1800" b="1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Content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6282" y="1263713"/>
            <a:ext cx="9553118" cy="5924699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40"/>
              </a:spcBef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Problem</a:t>
            </a:r>
            <a:r>
              <a:rPr spc="-6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Statement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Objectives</a:t>
            </a:r>
            <a:endParaRPr lang="en-US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buSzPct val="150000"/>
              <a:tabLst>
                <a:tab pos="354965" algn="l"/>
              </a:tabLst>
            </a:pPr>
            <a:endParaRPr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Analysis</a:t>
            </a:r>
            <a:r>
              <a:rPr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of</a:t>
            </a:r>
            <a:r>
              <a:rPr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Problem</a:t>
            </a:r>
            <a:r>
              <a:rPr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Statement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(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Software</a:t>
            </a:r>
            <a:r>
              <a:rPr lang="en-US" spc="-5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Requirements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)</a:t>
            </a: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endParaRPr lang="en-US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Analysis</a:t>
            </a:r>
            <a:r>
              <a:rPr lang="en-US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of</a:t>
            </a:r>
            <a:r>
              <a:rPr lang="en-US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Problem</a:t>
            </a:r>
            <a:r>
              <a:rPr lang="en-US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Statement(Hardware</a:t>
            </a:r>
            <a:r>
              <a:rPr lang="en-US" spc="-5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Requirements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)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Innovation</a:t>
            </a:r>
            <a:r>
              <a:rPr spc="-4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or</a:t>
            </a:r>
            <a:r>
              <a:rPr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Novel</a:t>
            </a:r>
            <a:r>
              <a:rPr spc="-4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Contributions</a:t>
            </a:r>
            <a:endParaRPr lang="en-US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endParaRPr lang="en-US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Flow Diagram </a:t>
            </a: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endParaRPr lang="en-US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Comperative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Analysis</a:t>
            </a: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Implementation Status</a:t>
            </a: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Challenges and Solutions</a:t>
            </a: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Problem</a:t>
            </a:r>
            <a:r>
              <a:rPr spc="-75" dirty="0"/>
              <a:t> </a:t>
            </a:r>
            <a:r>
              <a:rPr dirty="0"/>
              <a:t>Statement</a:t>
            </a:r>
            <a:r>
              <a:rPr spc="-75" dirty="0"/>
              <a:t> </a:t>
            </a:r>
            <a:r>
              <a:rPr spc="-50" dirty="0"/>
              <a:t>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62000" y="1169669"/>
            <a:ext cx="10640695" cy="5372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Cambria"/>
                <a:cs typeface="Cambria"/>
              </a:rPr>
              <a:t>Organization:</a:t>
            </a:r>
            <a:r>
              <a:rPr sz="1800" b="1" spc="-55" dirty="0">
                <a:latin typeface="Cambria"/>
                <a:cs typeface="Cambria"/>
              </a:rPr>
              <a:t> </a:t>
            </a:r>
            <a:r>
              <a:rPr lang="en-IN" sz="1800" spc="-55" dirty="0">
                <a:latin typeface="Cambria"/>
                <a:cs typeface="Cambria"/>
              </a:rPr>
              <a:t>Smart Automation</a:t>
            </a:r>
            <a:endParaRPr sz="1800" spc="-1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1800" b="1" dirty="0">
                <a:latin typeface="Cambria"/>
                <a:cs typeface="Cambria"/>
              </a:rPr>
              <a:t>Category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: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Software</a:t>
            </a:r>
          </a:p>
          <a:p>
            <a:pPr>
              <a:lnSpc>
                <a:spcPct val="150000"/>
              </a:lnSpc>
            </a:pPr>
            <a:r>
              <a:rPr sz="1800" b="1" dirty="0" smtClean="0">
                <a:latin typeface="Cambria"/>
                <a:cs typeface="Cambria"/>
              </a:rPr>
              <a:t>Problem</a:t>
            </a:r>
            <a:r>
              <a:rPr sz="1800" b="1" spc="250" dirty="0" smtClean="0">
                <a:latin typeface="Cambria"/>
                <a:cs typeface="Cambria"/>
              </a:rPr>
              <a:t> </a:t>
            </a:r>
            <a:r>
              <a:rPr sz="1800" b="1" dirty="0" smtClean="0">
                <a:latin typeface="Cambria"/>
                <a:cs typeface="Cambria"/>
              </a:rPr>
              <a:t>Description:</a:t>
            </a:r>
            <a:r>
              <a:rPr sz="1800" b="1" spc="254" dirty="0" smtClean="0">
                <a:latin typeface="Cambria"/>
                <a:cs typeface="Cambria"/>
              </a:rPr>
              <a:t>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rapid growth of digital education platforms has transformed the learning environment, but many existing e-learning systems still suffer from several major limitations. Most traditional platforms mainly focus on delivering static educational content and fail to provide interactive, engaging, and motivating learning experiences for students.</a:t>
            </a:r>
          </a:p>
          <a:p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Current learning systems lack: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Real-time interaction between students and teachers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Competitive and collaborative learning environments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Gamification elements such as rewards, badges, and leaderboards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Student engagement and motivation tracking </a:t>
            </a:r>
          </a:p>
          <a:p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Therefore, there is a need for a scalable, secure, and interactive gamified learning platform that combines: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Real-time communication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Gamification techniques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Competitive learning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Performance analytics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Multi-user role management </a:t>
            </a:r>
          </a:p>
          <a:p>
            <a:pPr>
              <a:lnSpc>
                <a:spcPct val="150000"/>
              </a:lnSpc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Objectives</a:t>
            </a:r>
            <a:r>
              <a:rPr spc="-110" dirty="0"/>
              <a:t> </a:t>
            </a:r>
            <a:r>
              <a:rPr spc="-50" dirty="0"/>
              <a:t>: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762000" y="1143000"/>
            <a:ext cx="10359390" cy="4386329"/>
          </a:xfrm>
        </p:spPr>
        <p:txBody>
          <a:bodyPr/>
          <a:lstStyle/>
          <a:p>
            <a:pPr marL="342900" lvl="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Develop </a:t>
            </a: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 Gamified Learning Platform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Design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and develop a complete interactive learning platform that improves student engagement using gamification concepts and competitive learning techniques. </a:t>
            </a:r>
          </a:p>
          <a:p>
            <a:pPr marL="342900" lvl="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Implement Multi-Role User Management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Provide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separate functionalities and dashboards for students, teachers, and administrators through role-based access control mechanisms. </a:t>
            </a:r>
          </a:p>
          <a:p>
            <a:pPr marL="342900" lvl="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Integrate Interactive Quiz and Tournament System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Develop quiz modules, real-time duels, tournaments, and challenge-based activities to create an engaging learning experience. </a:t>
            </a:r>
          </a:p>
          <a:p>
            <a:pPr marL="342900" lvl="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Enable Real-Time Communication and Interaction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Implement live notifications, quiz duels, real-time score updates, and instant communication using Socket.io technology.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Objectives</a:t>
            </a:r>
            <a:r>
              <a:rPr spc="-110" dirty="0"/>
              <a:t> </a:t>
            </a:r>
            <a:r>
              <a:rPr spc="-50" dirty="0"/>
              <a:t>: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143000"/>
            <a:ext cx="10744200" cy="4109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5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Incorporate Gamification Features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Integrate badges, leaderboards, achievements, rewards, and ranking systems to motivate students and encourage active participation.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5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Ensure Secure Authentication and Data Management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Implement JWT-based authentication and secure database management for safe access and protected communication.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5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Track Student Performance and Analytics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Provide performance monitoring, progress tracking, leaderboard analysis, and activity evaluation for effective learning assessment.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5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Develop a Scalable Cross-Platform System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Build a responsive and scalable application accessible through both web and mobile platforms using modern full-stack technologies.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dirty="0"/>
              <a:t>Analysis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Problem</a:t>
            </a:r>
            <a:r>
              <a:rPr spc="-65" dirty="0"/>
              <a:t> </a:t>
            </a:r>
            <a:r>
              <a:rPr dirty="0"/>
              <a:t>Statement</a:t>
            </a:r>
            <a:r>
              <a:rPr spc="-65" dirty="0"/>
              <a:t> </a:t>
            </a:r>
            <a:r>
              <a:rPr sz="2000" dirty="0"/>
              <a:t>(</a:t>
            </a:r>
            <a:r>
              <a:rPr sz="2000" spc="-50" dirty="0"/>
              <a:t> </a:t>
            </a:r>
            <a:r>
              <a:rPr sz="2000" dirty="0"/>
              <a:t>Software</a:t>
            </a:r>
            <a:r>
              <a:rPr sz="2000" spc="-50" dirty="0"/>
              <a:t> </a:t>
            </a:r>
            <a:r>
              <a:rPr sz="2000" dirty="0"/>
              <a:t>Requirements</a:t>
            </a:r>
            <a:r>
              <a:rPr sz="2000" spc="-50" dirty="0"/>
              <a:t> )</a:t>
            </a:r>
            <a:endParaRPr sz="2000" dirty="0"/>
          </a:p>
        </p:txBody>
      </p:sp>
      <p:sp>
        <p:nvSpPr>
          <p:cNvPr id="3" name="object 3"/>
          <p:cNvSpPr txBox="1"/>
          <p:nvPr/>
        </p:nvSpPr>
        <p:spPr>
          <a:xfrm>
            <a:off x="1043305" y="1169669"/>
            <a:ext cx="8389620" cy="482888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b="1" dirty="0">
                <a:latin typeface="Cambria"/>
                <a:cs typeface="Cambria"/>
              </a:rPr>
              <a:t>1</a:t>
            </a:r>
            <a:r>
              <a:rPr sz="1600" b="1" spc="-10" dirty="0">
                <a:latin typeface="Cambria"/>
                <a:cs typeface="Cambria"/>
              </a:rPr>
              <a:t> Frontend</a:t>
            </a:r>
            <a:endParaRPr sz="1600" dirty="0">
              <a:latin typeface="Cambria"/>
              <a:cs typeface="Cambria"/>
            </a:endParaRPr>
          </a:p>
          <a:p>
            <a:pPr marL="298450" indent="-285750"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IN" sz="1600" dirty="0" smtClean="0"/>
              <a:t>React.js</a:t>
            </a:r>
          </a:p>
          <a:p>
            <a:pPr marL="298450" indent="-285750"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IN" sz="1600" dirty="0" smtClean="0"/>
              <a:t>React Native</a:t>
            </a:r>
          </a:p>
          <a:p>
            <a:pPr marL="298450" indent="-285750"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IN" sz="1600" dirty="0" smtClean="0"/>
              <a:t>HTML</a:t>
            </a:r>
          </a:p>
          <a:p>
            <a:pPr marL="298450" indent="-285750"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IN" sz="1600" dirty="0" smtClean="0"/>
              <a:t>CSS</a:t>
            </a:r>
          </a:p>
          <a:p>
            <a:pPr marL="298450" indent="-285750"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IN" sz="1600" dirty="0" smtClean="0"/>
              <a:t>JavaScript</a:t>
            </a:r>
          </a:p>
          <a:p>
            <a:pPr marL="12700">
              <a:spcBef>
                <a:spcPts val="5"/>
              </a:spcBef>
            </a:pPr>
            <a:r>
              <a:rPr sz="1600" b="1" dirty="0" smtClean="0">
                <a:latin typeface="Cambria"/>
                <a:cs typeface="Cambria"/>
              </a:rPr>
              <a:t>2</a:t>
            </a:r>
            <a:r>
              <a:rPr sz="1600" b="1" spc="-10" dirty="0" smtClean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Backend</a:t>
            </a:r>
            <a:endParaRPr sz="1600" dirty="0">
              <a:latin typeface="Cambria"/>
              <a:cs typeface="Cambria"/>
            </a:endParaRPr>
          </a:p>
          <a:p>
            <a:pPr marL="354965" indent="-342265">
              <a:buFont typeface="Arial MT"/>
              <a:buChar char="•"/>
              <a:tabLst>
                <a:tab pos="354965" algn="l"/>
              </a:tabLst>
            </a:pPr>
            <a:r>
              <a:rPr lang="en-IN" sz="1600" dirty="0" smtClean="0"/>
              <a:t>Express.js</a:t>
            </a:r>
            <a:endParaRPr lang="en-US" sz="1600" spc="-20" dirty="0" smtClean="0">
              <a:latin typeface="Cambria"/>
              <a:cs typeface="Cambria"/>
            </a:endParaRPr>
          </a:p>
          <a:p>
            <a:pPr marL="354965" indent="-342265">
              <a:buFont typeface="Arial MT"/>
              <a:buChar char="•"/>
              <a:tabLst>
                <a:tab pos="354965" algn="l"/>
              </a:tabLst>
            </a:pPr>
            <a:r>
              <a:rPr lang="en-IN" sz="1600" dirty="0" smtClean="0"/>
              <a:t>Node.js</a:t>
            </a:r>
            <a:endParaRPr sz="1600" dirty="0">
              <a:latin typeface="Cambria"/>
              <a:cs typeface="Cambria"/>
            </a:endParaRPr>
          </a:p>
          <a:p>
            <a:pPr marL="12700"/>
            <a:r>
              <a:rPr sz="1600" b="1" dirty="0" smtClean="0">
                <a:latin typeface="Cambria"/>
                <a:cs typeface="Cambria"/>
              </a:rPr>
              <a:t>3</a:t>
            </a:r>
            <a:r>
              <a:rPr sz="1600" b="1" spc="-25" dirty="0" smtClean="0">
                <a:latin typeface="Cambria"/>
                <a:cs typeface="Cambria"/>
              </a:rPr>
              <a:t> </a:t>
            </a:r>
            <a:r>
              <a:rPr lang="en-IN" sz="1600" b="1" dirty="0" smtClean="0"/>
              <a:t>Real-Time Communication</a:t>
            </a:r>
          </a:p>
          <a:p>
            <a:pPr marL="298450" indent="-285750">
              <a:buFont typeface="Arial" panose="020B0604020202020204" pitchFamily="34" charset="0"/>
              <a:buChar char="•"/>
            </a:pPr>
            <a:r>
              <a:rPr lang="en-IN" sz="1600" dirty="0" smtClean="0"/>
              <a:t>Socket.io</a:t>
            </a:r>
            <a:endParaRPr sz="1600" dirty="0" smtClean="0">
              <a:latin typeface="Cambria"/>
              <a:cs typeface="Cambria"/>
            </a:endParaRPr>
          </a:p>
          <a:p>
            <a:pPr marL="12700"/>
            <a:r>
              <a:rPr sz="1600" b="1" dirty="0" smtClean="0">
                <a:latin typeface="Cambria"/>
                <a:cs typeface="Cambria"/>
              </a:rPr>
              <a:t>4</a:t>
            </a:r>
            <a:r>
              <a:rPr sz="1600" b="1" spc="-10" dirty="0" smtClean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Database</a:t>
            </a:r>
            <a:endParaRPr sz="1600" dirty="0">
              <a:latin typeface="Cambria"/>
              <a:cs typeface="Cambria"/>
            </a:endParaRPr>
          </a:p>
          <a:p>
            <a:pPr marL="298450" indent="-285750"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MongoDB</a:t>
            </a:r>
            <a:endParaRPr sz="1600" dirty="0" smtClean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57150"/>
            <a:r>
              <a:rPr sz="1600" b="1" dirty="0" smtClean="0">
                <a:latin typeface="Cambria"/>
                <a:cs typeface="Cambria"/>
              </a:rPr>
              <a:t>5</a:t>
            </a:r>
            <a:r>
              <a:rPr sz="1600" b="1" spc="-40" dirty="0" smtClean="0">
                <a:latin typeface="Cambria"/>
                <a:cs typeface="Cambria"/>
              </a:rPr>
              <a:t> </a:t>
            </a:r>
            <a:r>
              <a:rPr lang="en-US" sz="1600" b="1" dirty="0" smtClean="0">
                <a:latin typeface="Cambria"/>
                <a:cs typeface="Cambria"/>
              </a:rPr>
              <a:t>Authentication</a:t>
            </a:r>
          </a:p>
          <a:p>
            <a:pPr marL="34290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Cambria"/>
                <a:cs typeface="Cambria"/>
              </a:rPr>
              <a:t>JWT </a:t>
            </a:r>
            <a:r>
              <a:rPr lang="en-US" sz="1600" dirty="0" err="1" smtClean="0">
                <a:latin typeface="Cambria"/>
                <a:cs typeface="Cambria"/>
              </a:rPr>
              <a:t>Autentication</a:t>
            </a:r>
            <a:endParaRPr sz="1600" dirty="0">
              <a:latin typeface="Cambria"/>
              <a:cs typeface="Cambria"/>
            </a:endParaRPr>
          </a:p>
          <a:p>
            <a:pPr marL="12700">
              <a:spcBef>
                <a:spcPts val="960"/>
              </a:spcBef>
              <a:tabLst>
                <a:tab pos="297815" algn="l"/>
              </a:tabLst>
            </a:pPr>
            <a:r>
              <a:rPr lang="en-US" sz="1600" b="1" dirty="0" smtClean="0">
                <a:latin typeface="Cambria"/>
                <a:cs typeface="Cambria"/>
              </a:rPr>
              <a:t>6 Development Tools</a:t>
            </a:r>
          </a:p>
          <a:p>
            <a:pPr marL="298450" indent="-285750">
              <a:spcBef>
                <a:spcPts val="960"/>
              </a:spcBef>
              <a:buFont typeface="Arial" panose="020B0604020202020204" pitchFamily="34" charset="0"/>
              <a:buChar char="•"/>
              <a:tabLst>
                <a:tab pos="297815" algn="l"/>
              </a:tabLst>
            </a:pPr>
            <a:r>
              <a:rPr sz="1600" dirty="0" smtClean="0">
                <a:latin typeface="Cambria"/>
                <a:cs typeface="Cambria"/>
              </a:rPr>
              <a:t>Tools</a:t>
            </a:r>
            <a:r>
              <a:rPr sz="1600" spc="-30" dirty="0" smtClean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like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VS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Code,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lang="en-US" sz="1600" spc="-10" dirty="0" err="1" smtClean="0">
                <a:latin typeface="Cambria"/>
                <a:cs typeface="Cambria"/>
              </a:rPr>
              <a:t>Git</a:t>
            </a:r>
            <a:endParaRPr lang="en-US" sz="1600" spc="-10" dirty="0" smtClean="0">
              <a:latin typeface="Cambria"/>
              <a:cs typeface="Cambria"/>
            </a:endParaRPr>
          </a:p>
          <a:p>
            <a:pPr marL="12700">
              <a:spcBef>
                <a:spcPts val="960"/>
              </a:spcBef>
              <a:tabLst>
                <a:tab pos="297815" algn="l"/>
              </a:tabLst>
            </a:pPr>
            <a:r>
              <a:rPr lang="en-US" sz="1600" b="1" dirty="0" smtClean="0">
                <a:latin typeface="Cambria"/>
                <a:cs typeface="Cambria"/>
              </a:rPr>
              <a:t>7 </a:t>
            </a:r>
            <a:r>
              <a:rPr sz="1600" b="1" dirty="0" smtClean="0">
                <a:latin typeface="Cambria"/>
                <a:cs typeface="Cambria"/>
              </a:rPr>
              <a:t>Testing</a:t>
            </a:r>
            <a:r>
              <a:rPr sz="1600" b="1" spc="-35" dirty="0" smtClean="0">
                <a:latin typeface="Cambria"/>
                <a:cs typeface="Cambria"/>
              </a:rPr>
              <a:t> </a:t>
            </a:r>
            <a:r>
              <a:rPr sz="1600" b="1" dirty="0" smtClean="0">
                <a:latin typeface="Cambria"/>
                <a:cs typeface="Cambria"/>
              </a:rPr>
              <a:t>and</a:t>
            </a:r>
            <a:r>
              <a:rPr sz="1600" b="1" spc="-30" dirty="0" smtClean="0">
                <a:latin typeface="Cambria"/>
                <a:cs typeface="Cambria"/>
              </a:rPr>
              <a:t> </a:t>
            </a:r>
            <a:r>
              <a:rPr sz="1600" b="1" dirty="0" smtClean="0">
                <a:latin typeface="Cambria"/>
                <a:cs typeface="Cambria"/>
              </a:rPr>
              <a:t>Debugging:</a:t>
            </a:r>
            <a:r>
              <a:rPr sz="1600" b="1" spc="-30" dirty="0" smtClean="0">
                <a:latin typeface="Cambria"/>
                <a:cs typeface="Cambria"/>
              </a:rPr>
              <a:t> </a:t>
            </a:r>
            <a:r>
              <a:rPr sz="1600" dirty="0" smtClean="0">
                <a:latin typeface="Cambria"/>
                <a:cs typeface="Cambria"/>
              </a:rPr>
              <a:t>Web</a:t>
            </a:r>
            <a:r>
              <a:rPr sz="1600" spc="-30" dirty="0" smtClean="0">
                <a:latin typeface="Cambria"/>
                <a:cs typeface="Cambria"/>
              </a:rPr>
              <a:t> </a:t>
            </a:r>
            <a:r>
              <a:rPr sz="1600" dirty="0" smtClean="0">
                <a:latin typeface="Cambria"/>
                <a:cs typeface="Cambria"/>
              </a:rPr>
              <a:t>Browser</a:t>
            </a:r>
            <a:r>
              <a:rPr sz="1600" spc="-35" dirty="0" smtClean="0">
                <a:latin typeface="Cambria"/>
                <a:cs typeface="Cambria"/>
              </a:rPr>
              <a:t> </a:t>
            </a:r>
            <a:r>
              <a:rPr sz="1600" dirty="0" smtClean="0">
                <a:latin typeface="Cambria"/>
                <a:cs typeface="Cambria"/>
              </a:rPr>
              <a:t>(</a:t>
            </a:r>
            <a:r>
              <a:rPr sz="1600" spc="-35" dirty="0" smtClean="0">
                <a:latin typeface="Cambria"/>
                <a:cs typeface="Cambria"/>
              </a:rPr>
              <a:t> </a:t>
            </a:r>
            <a:r>
              <a:rPr sz="1600" dirty="0" smtClean="0">
                <a:latin typeface="Cambria"/>
                <a:cs typeface="Cambria"/>
              </a:rPr>
              <a:t>Chrome,</a:t>
            </a:r>
            <a:r>
              <a:rPr sz="1600" spc="-25" dirty="0" smtClean="0">
                <a:latin typeface="Cambria"/>
                <a:cs typeface="Cambria"/>
              </a:rPr>
              <a:t> </a:t>
            </a:r>
            <a:r>
              <a:rPr sz="1600" dirty="0" smtClean="0">
                <a:latin typeface="Cambria"/>
                <a:cs typeface="Cambria"/>
              </a:rPr>
              <a:t>Firefox,</a:t>
            </a:r>
            <a:r>
              <a:rPr sz="1600" spc="-30" dirty="0" smtClean="0">
                <a:latin typeface="Cambria"/>
                <a:cs typeface="Cambria"/>
              </a:rPr>
              <a:t> </a:t>
            </a:r>
            <a:r>
              <a:rPr sz="1600" dirty="0" smtClean="0">
                <a:latin typeface="Cambria"/>
                <a:cs typeface="Cambria"/>
              </a:rPr>
              <a:t>Edge</a:t>
            </a:r>
            <a:r>
              <a:rPr sz="1600" spc="-35" dirty="0" smtClean="0">
                <a:latin typeface="Cambria"/>
                <a:cs typeface="Cambria"/>
              </a:rPr>
              <a:t> </a:t>
            </a:r>
            <a:r>
              <a:rPr sz="1600" dirty="0" smtClean="0">
                <a:latin typeface="Cambria"/>
                <a:cs typeface="Cambria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dirty="0"/>
              <a:t>Analysis</a:t>
            </a:r>
            <a:r>
              <a:rPr spc="-70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Problem</a:t>
            </a:r>
            <a:r>
              <a:rPr spc="-70" dirty="0"/>
              <a:t> </a:t>
            </a:r>
            <a:r>
              <a:rPr dirty="0"/>
              <a:t>Statement</a:t>
            </a:r>
            <a:r>
              <a:rPr spc="-70" dirty="0"/>
              <a:t> </a:t>
            </a:r>
            <a:r>
              <a:rPr sz="2000" dirty="0"/>
              <a:t>(</a:t>
            </a:r>
            <a:r>
              <a:rPr sz="2000" spc="-55" dirty="0"/>
              <a:t> </a:t>
            </a:r>
            <a:r>
              <a:rPr sz="2000" dirty="0"/>
              <a:t>Hardware</a:t>
            </a:r>
            <a:r>
              <a:rPr sz="2000" spc="-55" dirty="0"/>
              <a:t> </a:t>
            </a:r>
            <a:r>
              <a:rPr sz="2000" dirty="0"/>
              <a:t>Requirements</a:t>
            </a:r>
            <a:r>
              <a:rPr sz="2000" spc="-55" dirty="0"/>
              <a:t> </a:t>
            </a:r>
            <a:r>
              <a:rPr sz="2000" spc="-50" dirty="0"/>
              <a:t>)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762000" y="1311910"/>
            <a:ext cx="9685655" cy="479810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dirty="0" smtClean="0">
                <a:latin typeface="Cambria"/>
                <a:cs typeface="Cambria"/>
              </a:rPr>
              <a:t>1</a:t>
            </a:r>
            <a:r>
              <a:rPr sz="1700" b="1" spc="-40" dirty="0" smtClean="0">
                <a:latin typeface="Cambria"/>
                <a:cs typeface="Cambria"/>
              </a:rPr>
              <a:t> </a:t>
            </a:r>
            <a:r>
              <a:rPr sz="1700" b="1" dirty="0" smtClean="0">
                <a:latin typeface="Cambria"/>
                <a:cs typeface="Cambria"/>
              </a:rPr>
              <a:t>Development</a:t>
            </a:r>
            <a:r>
              <a:rPr sz="1700" b="1" spc="-40" dirty="0" smtClean="0">
                <a:latin typeface="Cambria"/>
                <a:cs typeface="Cambria"/>
              </a:rPr>
              <a:t> </a:t>
            </a:r>
            <a:r>
              <a:rPr sz="1700" b="1" spc="-10" dirty="0" smtClean="0">
                <a:latin typeface="Cambria"/>
                <a:cs typeface="Cambria"/>
              </a:rPr>
              <a:t>Machine</a:t>
            </a:r>
            <a:endParaRPr sz="1700" dirty="0" smtClean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dirty="0" smtClean="0">
                <a:latin typeface="Cambria"/>
                <a:cs typeface="Cambria"/>
              </a:rPr>
              <a:t>Processor:</a:t>
            </a:r>
            <a:r>
              <a:rPr sz="1700" b="1" spc="-30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A</a:t>
            </a:r>
            <a:r>
              <a:rPr sz="1700" spc="-30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modern</a:t>
            </a:r>
            <a:r>
              <a:rPr sz="1700" spc="-25" dirty="0" smtClean="0">
                <a:latin typeface="Cambria"/>
                <a:cs typeface="Cambria"/>
              </a:rPr>
              <a:t> </a:t>
            </a:r>
            <a:r>
              <a:rPr sz="1700" spc="-10" dirty="0" smtClean="0">
                <a:latin typeface="Cambria"/>
                <a:cs typeface="Cambria"/>
              </a:rPr>
              <a:t>multi-</a:t>
            </a:r>
            <a:r>
              <a:rPr sz="1700" dirty="0" smtClean="0">
                <a:latin typeface="Cambria"/>
                <a:cs typeface="Cambria"/>
              </a:rPr>
              <a:t>core</a:t>
            </a:r>
            <a:r>
              <a:rPr sz="1700" spc="-30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processor(</a:t>
            </a:r>
            <a:r>
              <a:rPr lang="sv-SE" sz="1700" dirty="0" smtClean="0">
                <a:latin typeface="Cambria" panose="02040503050406030204" pitchFamily="18" charset="0"/>
                <a:ea typeface="Cambria" panose="02040503050406030204" pitchFamily="18" charset="0"/>
              </a:rPr>
              <a:t>64-bit Processor (Intel i5/i7 or AMD Ryzen 5/7)</a:t>
            </a:r>
            <a:r>
              <a:rPr sz="1700" spc="-10" dirty="0" smtClean="0">
                <a:latin typeface="Cambria"/>
                <a:cs typeface="Cambria"/>
              </a:rPr>
              <a:t>)</a:t>
            </a:r>
            <a:endParaRPr sz="1700" dirty="0" smtClean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dirty="0" smtClean="0">
                <a:latin typeface="Cambria"/>
                <a:cs typeface="Cambria"/>
              </a:rPr>
              <a:t>RAM:</a:t>
            </a:r>
            <a:r>
              <a:rPr sz="1700" b="1" spc="-20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At</a:t>
            </a:r>
            <a:r>
              <a:rPr sz="1700" spc="-20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least</a:t>
            </a:r>
            <a:r>
              <a:rPr sz="1700" spc="-25" dirty="0" smtClean="0">
                <a:latin typeface="Cambria"/>
                <a:cs typeface="Cambria"/>
              </a:rPr>
              <a:t> </a:t>
            </a:r>
            <a:r>
              <a:rPr lang="en-US" sz="1700" spc="-25" dirty="0" smtClean="0">
                <a:latin typeface="Cambria"/>
                <a:cs typeface="Cambria"/>
              </a:rPr>
              <a:t>8</a:t>
            </a:r>
            <a:r>
              <a:rPr sz="1700" spc="-20" dirty="0" smtClean="0">
                <a:latin typeface="Cambria"/>
                <a:cs typeface="Cambria"/>
              </a:rPr>
              <a:t> </a:t>
            </a:r>
            <a:r>
              <a:rPr sz="1700" spc="-35" dirty="0" smtClean="0">
                <a:latin typeface="Cambria"/>
                <a:cs typeface="Cambria"/>
              </a:rPr>
              <a:t>GB</a:t>
            </a:r>
            <a:endParaRPr sz="1700" dirty="0" smtClean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dirty="0" smtClean="0">
                <a:latin typeface="Cambria"/>
                <a:cs typeface="Cambria"/>
              </a:rPr>
              <a:t>Storage:</a:t>
            </a:r>
            <a:r>
              <a:rPr sz="1700" b="1" spc="-35" dirty="0" smtClean="0">
                <a:latin typeface="Cambria"/>
                <a:cs typeface="Cambria"/>
              </a:rPr>
              <a:t> </a:t>
            </a:r>
            <a:r>
              <a:rPr lang="en-US" sz="1700" b="1" spc="-35" dirty="0" smtClean="0">
                <a:latin typeface="Cambria"/>
                <a:cs typeface="Cambria"/>
              </a:rPr>
              <a:t> </a:t>
            </a:r>
            <a:r>
              <a:rPr lang="en-US" sz="1700" spc="-35" dirty="0" smtClean="0">
                <a:latin typeface="Cambria"/>
                <a:cs typeface="Cambria"/>
              </a:rPr>
              <a:t>30</a:t>
            </a:r>
            <a:r>
              <a:rPr sz="1700" dirty="0" smtClean="0">
                <a:latin typeface="Cambria"/>
                <a:cs typeface="Cambria"/>
              </a:rPr>
              <a:t>GB</a:t>
            </a:r>
            <a:r>
              <a:rPr sz="1700" spc="-35" dirty="0" smtClean="0">
                <a:latin typeface="Cambria"/>
                <a:cs typeface="Cambria"/>
              </a:rPr>
              <a:t> </a:t>
            </a:r>
            <a:r>
              <a:rPr sz="1700" spc="-10" dirty="0" smtClean="0">
                <a:latin typeface="Cambria"/>
                <a:cs typeface="Cambria"/>
              </a:rPr>
              <a:t>recommended</a:t>
            </a:r>
            <a:endParaRPr sz="1700" dirty="0" smtClean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1700" dirty="0" smtClean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700" b="1" dirty="0" smtClean="0">
                <a:latin typeface="Cambria"/>
                <a:cs typeface="Cambria"/>
              </a:rPr>
              <a:t>2</a:t>
            </a:r>
            <a:r>
              <a:rPr sz="1700" b="1" spc="-10" dirty="0" smtClean="0">
                <a:latin typeface="Cambria"/>
                <a:cs typeface="Cambria"/>
              </a:rPr>
              <a:t> Network:</a:t>
            </a:r>
            <a:endParaRPr sz="1700" dirty="0" smtClean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dirty="0" smtClean="0">
                <a:latin typeface="Cambria"/>
                <a:cs typeface="Cambria"/>
              </a:rPr>
              <a:t>Internet</a:t>
            </a:r>
            <a:r>
              <a:rPr sz="1700" b="1" spc="-35" dirty="0" smtClean="0">
                <a:latin typeface="Cambria"/>
                <a:cs typeface="Cambria"/>
              </a:rPr>
              <a:t> </a:t>
            </a:r>
            <a:r>
              <a:rPr sz="1700" b="1" dirty="0" smtClean="0">
                <a:latin typeface="Cambria"/>
                <a:cs typeface="Cambria"/>
              </a:rPr>
              <a:t>Connection:</a:t>
            </a:r>
            <a:r>
              <a:rPr sz="1700" b="1" spc="-35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Stable</a:t>
            </a:r>
            <a:r>
              <a:rPr sz="1700" spc="-35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and</a:t>
            </a:r>
            <a:r>
              <a:rPr sz="1700" spc="285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standard</a:t>
            </a:r>
            <a:r>
              <a:rPr sz="1700" spc="-30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speed</a:t>
            </a:r>
            <a:r>
              <a:rPr sz="1700" spc="-35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internet</a:t>
            </a:r>
            <a:r>
              <a:rPr sz="1700" spc="-35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connection</a:t>
            </a:r>
            <a:r>
              <a:rPr sz="1700" spc="-35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for</a:t>
            </a:r>
            <a:r>
              <a:rPr sz="1700" spc="-35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development</a:t>
            </a:r>
            <a:r>
              <a:rPr sz="1700" spc="-40" dirty="0" smtClean="0">
                <a:latin typeface="Cambria"/>
                <a:cs typeface="Cambria"/>
              </a:rPr>
              <a:t> </a:t>
            </a:r>
            <a:r>
              <a:rPr sz="1700" dirty="0" smtClean="0">
                <a:latin typeface="Cambria"/>
                <a:cs typeface="Cambria"/>
              </a:rPr>
              <a:t>and</a:t>
            </a:r>
            <a:r>
              <a:rPr sz="1700" spc="-30" dirty="0" smtClean="0">
                <a:latin typeface="Cambria"/>
                <a:cs typeface="Cambria"/>
              </a:rPr>
              <a:t> </a:t>
            </a:r>
            <a:r>
              <a:rPr sz="1700" spc="-10" dirty="0" err="1" smtClean="0">
                <a:latin typeface="Cambria"/>
                <a:cs typeface="Cambria"/>
              </a:rPr>
              <a:t>deployement</a:t>
            </a:r>
            <a:endParaRPr sz="1700" dirty="0" smtClean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1700" dirty="0" smtClean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700" b="1" dirty="0" smtClean="0">
                <a:latin typeface="Cambria"/>
                <a:cs typeface="Cambria"/>
              </a:rPr>
              <a:t>3</a:t>
            </a:r>
            <a:r>
              <a:rPr sz="1700" b="1" spc="290" dirty="0" smtClean="0">
                <a:latin typeface="Cambria"/>
                <a:cs typeface="Cambria"/>
              </a:rPr>
              <a:t> </a:t>
            </a:r>
            <a:r>
              <a:rPr sz="1700" b="1" dirty="0" smtClean="0">
                <a:latin typeface="Cambria"/>
                <a:cs typeface="Cambria"/>
              </a:rPr>
              <a:t>Additional</a:t>
            </a:r>
            <a:r>
              <a:rPr sz="1700" b="1" spc="-30" dirty="0" smtClean="0">
                <a:latin typeface="Cambria"/>
                <a:cs typeface="Cambria"/>
              </a:rPr>
              <a:t> </a:t>
            </a:r>
            <a:r>
              <a:rPr sz="1700" b="1" dirty="0" smtClean="0">
                <a:latin typeface="Cambria"/>
                <a:cs typeface="Cambria"/>
              </a:rPr>
              <a:t>Hardware</a:t>
            </a:r>
            <a:r>
              <a:rPr sz="1700" b="1" spc="-25" dirty="0" smtClean="0">
                <a:latin typeface="Cambria"/>
                <a:cs typeface="Cambria"/>
              </a:rPr>
              <a:t> </a:t>
            </a:r>
            <a:r>
              <a:rPr sz="1700" b="1" dirty="0" smtClean="0">
                <a:latin typeface="Cambria"/>
                <a:cs typeface="Cambria"/>
              </a:rPr>
              <a:t>(Optional</a:t>
            </a:r>
            <a:r>
              <a:rPr sz="1700" b="1" spc="-30" dirty="0" smtClean="0">
                <a:latin typeface="Cambria"/>
                <a:cs typeface="Cambria"/>
              </a:rPr>
              <a:t> </a:t>
            </a:r>
            <a:r>
              <a:rPr sz="1700" b="1" dirty="0" smtClean="0">
                <a:latin typeface="Cambria"/>
                <a:cs typeface="Cambria"/>
              </a:rPr>
              <a:t>for</a:t>
            </a:r>
            <a:r>
              <a:rPr sz="1700" b="1" spc="-30" dirty="0" smtClean="0">
                <a:latin typeface="Cambria"/>
                <a:cs typeface="Cambria"/>
              </a:rPr>
              <a:t> </a:t>
            </a:r>
            <a:r>
              <a:rPr sz="1700" b="1" spc="-10" dirty="0" smtClean="0">
                <a:latin typeface="Cambria"/>
                <a:cs typeface="Cambria"/>
              </a:rPr>
              <a:t>Deployment)</a:t>
            </a:r>
            <a:endParaRPr sz="1700" dirty="0" smtClean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lang="en-US" sz="1700" dirty="0" smtClean="0">
                <a:latin typeface="Cambria" panose="02040503050406030204" pitchFamily="18" charset="0"/>
                <a:ea typeface="Cambria" panose="02040503050406030204" pitchFamily="18" charset="0"/>
              </a:rPr>
              <a:t>Microphone for voice data ingestion</a:t>
            </a: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lang="en-IN" sz="1700" dirty="0" smtClean="0">
                <a:latin typeface="Cambria" panose="02040503050406030204" pitchFamily="18" charset="0"/>
                <a:ea typeface="Cambria" panose="02040503050406030204" pitchFamily="18" charset="0"/>
              </a:rPr>
              <a:t>External Storage (HDD/SSD) for large offline datasets</a:t>
            </a: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lang="en-US" sz="1700" dirty="0" smtClean="0">
                <a:latin typeface="Cambria" panose="02040503050406030204" pitchFamily="18" charset="0"/>
                <a:ea typeface="Cambria" panose="02040503050406030204" pitchFamily="18" charset="0"/>
              </a:rPr>
              <a:t>High-resolution Scanner for document digitization</a:t>
            </a:r>
            <a:endParaRPr sz="17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dirty="0"/>
              <a:t>Innovation</a:t>
            </a:r>
            <a:r>
              <a:rPr spc="-75" dirty="0"/>
              <a:t> </a:t>
            </a:r>
            <a:r>
              <a:rPr dirty="0"/>
              <a:t>or</a:t>
            </a:r>
            <a:r>
              <a:rPr spc="-75" dirty="0"/>
              <a:t> </a:t>
            </a:r>
            <a:r>
              <a:rPr dirty="0"/>
              <a:t>Novel</a:t>
            </a:r>
            <a:r>
              <a:rPr spc="-70" dirty="0"/>
              <a:t> </a:t>
            </a:r>
            <a:r>
              <a:rPr spc="-10" dirty="0"/>
              <a:t>Contributions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914400"/>
            <a:ext cx="10589895" cy="53136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50000"/>
              </a:lnSpc>
              <a:spcBef>
                <a:spcPts val="95"/>
              </a:spcBef>
              <a:buAutoNum type="arabicPeriod"/>
              <a:tabLst>
                <a:tab pos="354965" algn="l"/>
              </a:tabLst>
            </a:pPr>
            <a:r>
              <a:rPr lang="en-US" sz="16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Gamified Interactive Learning Platform: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Unlike traditional e-learning systems that mainly focus on static content delivery, this project provides a complete gamified learning environment using badges, leaderboards, tournaments, rewards, and achievements to improve student engagement and motivation.</a:t>
            </a:r>
            <a:endParaRPr sz="1600" dirty="0" smtClean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50000"/>
              </a:lnSpc>
              <a:spcBef>
                <a:spcPts val="1340"/>
              </a:spcBef>
              <a:buAutoNum type="arabicPeriod" startAt="2"/>
              <a:tabLst>
                <a:tab pos="354965" algn="l"/>
              </a:tabLst>
            </a:pPr>
            <a:r>
              <a:rPr lang="en-US" sz="16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Real-Time Quiz Duel and Communication System:</a:t>
            </a:r>
            <a:br>
              <a:rPr lang="en-US" sz="1600" b="1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 platform integrates Socket.io–based real-time communication to support live quiz duels, instant notifications, real-time score updates, and interactive learning experiences.</a:t>
            </a:r>
          </a:p>
          <a:p>
            <a:pPr marL="354965" indent="-342265">
              <a:lnSpc>
                <a:spcPct val="150000"/>
              </a:lnSpc>
              <a:spcBef>
                <a:spcPts val="1340"/>
              </a:spcBef>
              <a:buAutoNum type="arabicPeriod" startAt="2"/>
              <a:tabLst>
                <a:tab pos="354965" algn="l"/>
              </a:tabLst>
            </a:pPr>
            <a:r>
              <a:rPr lang="en-US" sz="16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Multi-Role Educational Management System: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 system provides dedicated dashboards and functionalities for students, teachers, and administrators, ensuring efficient content management, monitoring, and user interaction.</a:t>
            </a:r>
          </a:p>
          <a:p>
            <a:pPr marL="354965" indent="-342265">
              <a:lnSpc>
                <a:spcPct val="150000"/>
              </a:lnSpc>
              <a:spcBef>
                <a:spcPts val="1340"/>
              </a:spcBef>
              <a:buAutoNum type="arabicPeriod" startAt="2"/>
              <a:tabLst>
                <a:tab pos="354965" algn="l"/>
              </a:tabLst>
            </a:pPr>
            <a:r>
              <a:rPr lang="en-US" sz="16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Cross-Platform Learning Accessibility:</a:t>
            </a: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6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 application supports both web and mobile platforms using React.js and React Native technologies, allowing users to access educational resources anytime and anywhere.</a:t>
            </a:r>
            <a:endParaRPr sz="1600" b="1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dirty="0"/>
              <a:t>Innovation</a:t>
            </a:r>
            <a:r>
              <a:rPr spc="-75" dirty="0"/>
              <a:t> </a:t>
            </a:r>
            <a:r>
              <a:rPr dirty="0"/>
              <a:t>or</a:t>
            </a:r>
            <a:r>
              <a:rPr spc="-75" dirty="0"/>
              <a:t> </a:t>
            </a:r>
            <a:r>
              <a:rPr dirty="0"/>
              <a:t>Novel</a:t>
            </a:r>
            <a:r>
              <a:rPr spc="-70" dirty="0"/>
              <a:t> </a:t>
            </a:r>
            <a:r>
              <a:rPr spc="-10" dirty="0"/>
              <a:t>Contributions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62000" y="910598"/>
            <a:ext cx="10488295" cy="4862228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5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Performance Tracking and Analytics System:</a:t>
            </a:r>
            <a:b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platform continuously tracks student performance, rankings, achievements, quiz scores, and participation levels to provide detailed educational analytics.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6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Secure and Scalable Full-Stack Architecture: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project integrates JWT authentication, MongoDB database management, and modular backend architecture to ensure secure communication, scalability, and efficient system performance.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7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Interactive Competitive Learning Environment: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Students can participate in quizzes, tournaments, missions, and leaderboard competitions, creating an engaging and collaborative educational ecosystem.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8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Extensible and Future-Ready System Design: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/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architecture is designed to support future integration of AI-based recommendations, adaptive learning systems, AR/VR educational features, and advanced analytics modules.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endParaRPr sz="1700"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99926-7698-E310-FABA-57260172A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30887"/>
          </a:xfrm>
        </p:spPr>
        <p:txBody>
          <a:bodyPr/>
          <a:lstStyle/>
          <a:p>
            <a:r>
              <a:rPr lang="en-US" dirty="0"/>
              <a:t>Flow Diagram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143000"/>
            <a:ext cx="9091714" cy="496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116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73726-D4CA-AF5A-5A90-FE3205927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30887"/>
          </a:xfrm>
        </p:spPr>
        <p:txBody>
          <a:bodyPr/>
          <a:lstStyle/>
          <a:p>
            <a:r>
              <a:rPr lang="en-US" dirty="0" err="1" smtClean="0"/>
              <a:t>Comperative</a:t>
            </a:r>
            <a:r>
              <a:rPr lang="en-US" dirty="0" smtClean="0"/>
              <a:t> Analysis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289609"/>
              </p:ext>
            </p:extLst>
          </p:nvPr>
        </p:nvGraphicFramePr>
        <p:xfrm>
          <a:off x="890903" y="1143000"/>
          <a:ext cx="10691496" cy="4495799"/>
        </p:xfrm>
        <a:graphic>
          <a:graphicData uri="http://schemas.openxmlformats.org/drawingml/2006/table">
            <a:tbl>
              <a:tblPr/>
              <a:tblGrid>
                <a:gridCol w="3563832">
                  <a:extLst>
                    <a:ext uri="{9D8B030D-6E8A-4147-A177-3AD203B41FA5}">
                      <a16:colId xmlns:a16="http://schemas.microsoft.com/office/drawing/2014/main" val="1063527312"/>
                    </a:ext>
                  </a:extLst>
                </a:gridCol>
                <a:gridCol w="3563832">
                  <a:extLst>
                    <a:ext uri="{9D8B030D-6E8A-4147-A177-3AD203B41FA5}">
                      <a16:colId xmlns:a16="http://schemas.microsoft.com/office/drawing/2014/main" val="3533251679"/>
                    </a:ext>
                  </a:extLst>
                </a:gridCol>
                <a:gridCol w="3563832">
                  <a:extLst>
                    <a:ext uri="{9D8B030D-6E8A-4147-A177-3AD203B41FA5}">
                      <a16:colId xmlns:a16="http://schemas.microsoft.com/office/drawing/2014/main" val="2666390179"/>
                    </a:ext>
                  </a:extLst>
                </a:gridCol>
              </a:tblGrid>
              <a:tr h="408709"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Traditional E-Learning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SyncLearn</a:t>
                      </a:r>
                      <a:r>
                        <a:rPr lang="en-IN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Platform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1702149"/>
                  </a:ext>
                </a:extLst>
              </a:tr>
              <a:tr h="408709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Static 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6780848"/>
                  </a:ext>
                </a:extLst>
              </a:tr>
              <a:tr h="408709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Gamification 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1954297"/>
                  </a:ext>
                </a:extLst>
              </a:tr>
              <a:tr h="408709">
                <a:tc>
                  <a:txBody>
                    <a:bodyPr/>
                    <a:lstStyle/>
                    <a:p>
                      <a:r>
                        <a:rPr lang="en-IN" sz="18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Real-Time Quiz Duel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8866661"/>
                  </a:ext>
                </a:extLst>
              </a:tr>
              <a:tr h="408709">
                <a:tc>
                  <a:txBody>
                    <a:bodyPr/>
                    <a:lstStyle/>
                    <a:p>
                      <a:r>
                        <a:rPr lang="en-IN" sz="18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Leaderboard</a:t>
                      </a:r>
                      <a:r>
                        <a:rPr lang="en-IN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7268437"/>
                  </a:ext>
                </a:extLst>
              </a:tr>
              <a:tr h="408709">
                <a:tc>
                  <a:txBody>
                    <a:bodyPr/>
                    <a:lstStyle/>
                    <a:p>
                      <a:r>
                        <a:rPr lang="en-IN" sz="18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Instant Notifications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4037035"/>
                  </a:ext>
                </a:extLst>
              </a:tr>
              <a:tr h="408709">
                <a:tc>
                  <a:txBody>
                    <a:bodyPr/>
                    <a:lstStyle/>
                    <a:p>
                      <a:r>
                        <a:rPr lang="en-IN" sz="18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Role-Based Dashboard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Partial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Complete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1504314"/>
                  </a:ext>
                </a:extLst>
              </a:tr>
              <a:tr h="408709">
                <a:tc>
                  <a:txBody>
                    <a:bodyPr/>
                    <a:lstStyle/>
                    <a:p>
                      <a:r>
                        <a:rPr lang="en-IN" sz="18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Mobile Accessibility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342983"/>
                  </a:ext>
                </a:extLst>
              </a:tr>
              <a:tr h="408709">
                <a:tc>
                  <a:txBody>
                    <a:bodyPr/>
                    <a:lstStyle/>
                    <a:p>
                      <a:r>
                        <a:rPr lang="en-IN" sz="18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Performance Analytics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Basic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Advanced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1186013"/>
                  </a:ext>
                </a:extLst>
              </a:tr>
              <a:tr h="408709">
                <a:tc>
                  <a:txBody>
                    <a:bodyPr/>
                    <a:lstStyle/>
                    <a:p>
                      <a:r>
                        <a:rPr lang="en-IN" sz="18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Interactive 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0762512"/>
                  </a:ext>
                </a:extLst>
              </a:tr>
              <a:tr h="408709">
                <a:tc>
                  <a:txBody>
                    <a:bodyPr/>
                    <a:lstStyle/>
                    <a:p>
                      <a:r>
                        <a:rPr lang="en-IN" sz="18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Tournament 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9192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3720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30887"/>
          </a:xfrm>
        </p:spPr>
        <p:txBody>
          <a:bodyPr/>
          <a:lstStyle/>
          <a:p>
            <a:r>
              <a:rPr lang="en-US" dirty="0" smtClean="0"/>
              <a:t>Current Implementation Status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739" y="990600"/>
            <a:ext cx="10310495" cy="4850131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Completed Modules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JWT Authentication System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Student Dashboard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Teacher Dashboard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Admin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Dashboard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Quiz Management Module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Leaderboard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System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Tournament Module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Gamification Features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Real-Time Notifications </a:t>
            </a:r>
            <a:endParaRPr lang="en-IN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Ongoing 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Modules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Mobile Application Optimization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Advanced Analytics Dashboard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Performance Improvements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UI/UX Enhancements 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Testing Status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Frontend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Testing Completed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Backend API Testing Completed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Real-Time 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Communication Testing Ongoing </a:t>
            </a:r>
          </a:p>
        </p:txBody>
      </p:sp>
    </p:spTree>
    <p:extLst>
      <p:ext uri="{BB962C8B-B14F-4D97-AF65-F5344CB8AC3E}">
        <p14:creationId xmlns:p14="http://schemas.microsoft.com/office/powerpoint/2010/main" val="120500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30887"/>
          </a:xfrm>
        </p:spPr>
        <p:txBody>
          <a:bodyPr/>
          <a:lstStyle/>
          <a:p>
            <a:r>
              <a:rPr lang="en-IN" dirty="0"/>
              <a:t>Challenges and Solutions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305" y="1169669"/>
            <a:ext cx="10359390" cy="2170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Challenges and Solutions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Real-Time Synchronization Challenges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Managing live quiz duels and instant leaderboard updates for multiple users simultaneously created synchronization challenges.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Solution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Socket.io technology was implemented for efficient real-time communication and low-latency updates.</a:t>
            </a:r>
          </a:p>
        </p:txBody>
      </p:sp>
    </p:spTree>
    <p:extLst>
      <p:ext uri="{BB962C8B-B14F-4D97-AF65-F5344CB8AC3E}">
        <p14:creationId xmlns:p14="http://schemas.microsoft.com/office/powerpoint/2010/main" val="4091223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30887"/>
          </a:xfrm>
        </p:spPr>
        <p:txBody>
          <a:bodyPr/>
          <a:lstStyle/>
          <a:p>
            <a:r>
              <a:rPr lang="en-US" dirty="0" err="1" smtClean="0"/>
              <a:t>Github</a:t>
            </a:r>
            <a:r>
              <a:rPr lang="en-US" dirty="0" smtClean="0"/>
              <a:t> Link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305" y="1169669"/>
            <a:ext cx="10359390" cy="369332"/>
          </a:xfrm>
        </p:spPr>
        <p:txBody>
          <a:bodyPr/>
          <a:lstStyle/>
          <a:p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https://github.com/dhanaraj99/SyncLearn_Gamified_learning_platform.git</a:t>
            </a:r>
          </a:p>
        </p:txBody>
      </p:sp>
    </p:spTree>
    <p:extLst>
      <p:ext uri="{BB962C8B-B14F-4D97-AF65-F5344CB8AC3E}">
        <p14:creationId xmlns:p14="http://schemas.microsoft.com/office/powerpoint/2010/main" val="3815545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2796" y="1441703"/>
            <a:ext cx="3893820" cy="39349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360</TotalTime>
  <Words>545</Words>
  <Application>Microsoft Office PowerPoint</Application>
  <PresentationFormat>Widescreen</PresentationFormat>
  <Paragraphs>167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MT</vt:lpstr>
      <vt:lpstr>Cambria</vt:lpstr>
      <vt:lpstr>Times New Roman</vt:lpstr>
      <vt:lpstr>Verdana</vt:lpstr>
      <vt:lpstr>Office Theme</vt:lpstr>
      <vt:lpstr>CSE7302- University Project Review-4</vt:lpstr>
      <vt:lpstr>Content</vt:lpstr>
      <vt:lpstr>Problem Statement :</vt:lpstr>
      <vt:lpstr>Objectives :</vt:lpstr>
      <vt:lpstr>Objectives :</vt:lpstr>
      <vt:lpstr>Analysis of Problem Statement ( Software Requirements )</vt:lpstr>
      <vt:lpstr>Analysis of Problem Statement ( Hardware Requirements )</vt:lpstr>
      <vt:lpstr>Innovation or Novel Contributions</vt:lpstr>
      <vt:lpstr>Innovation or Novel Contributions</vt:lpstr>
      <vt:lpstr>Flow Diagram</vt:lpstr>
      <vt:lpstr>Comperative Analysis</vt:lpstr>
      <vt:lpstr>Current Implementation Status</vt:lpstr>
      <vt:lpstr>Challenges and Solutions</vt:lpstr>
      <vt:lpstr>Github Link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CSE7101- Capstone Project Review-1</dc:title>
  <dc:creator>kovuri nizam</dc:creator>
  <dc:description/>
  <cp:lastModifiedBy>dhanaraj dhammure</cp:lastModifiedBy>
  <cp:revision>22</cp:revision>
  <dcterms:created xsi:type="dcterms:W3CDTF">2025-08-10T14:24:47Z</dcterms:created>
  <dcterms:modified xsi:type="dcterms:W3CDTF">2026-05-12T18:46:28Z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2025-08-10T00:00:00Z</vt:filetime>
  </property>
  <property fmtid="{D5CDD505-2E9C-101B-9397-08002B2CF9AE}" pid="3" name="Creator">
    <vt:lpwstr>WPS Presentation</vt:lpwstr>
  </property>
  <property fmtid="{D5CDD505-2E9C-101B-9397-08002B2CF9AE}" pid="4" name="LastSaved">
    <vt:filetime>2025-08-10T00:00:00Z</vt:filetime>
  </property>
  <property fmtid="{D5CDD505-2E9C-101B-9397-08002B2CF9AE}" pid="5" name="SourceModified">
    <vt:lpwstr>D:20250810153115+05'30'</vt:lpwstr>
  </property>
</Properties>
</file>