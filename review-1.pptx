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0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mbria"/>
                <a:cs typeface="Cambria"/>
              </a:rPr>
              <a:t>SIH25048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lang="en-US" sz="2400" b="1" spc="-55" dirty="0">
                <a:latin typeface="Cambria"/>
                <a:cs typeface="Cambria"/>
              </a:rPr>
              <a:t>- Gamified Learning Platform</a:t>
            </a:r>
          </a:p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5" dirty="0">
                <a:latin typeface="Cambria"/>
                <a:cs typeface="Cambria"/>
              </a:rPr>
              <a:t>for Rural Education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spc="-25" dirty="0">
                <a:solidFill>
                  <a:srgbClr val="16365D"/>
                </a:solidFill>
                <a:latin typeface="Cambria"/>
                <a:cs typeface="Cambria"/>
              </a:rPr>
              <a:t>40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59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Ms. </a:t>
            </a:r>
            <a:r>
              <a:rPr lang="en-IN" sz="1800" b="1" spc="-25" dirty="0" err="1">
                <a:solidFill>
                  <a:srgbClr val="16365D"/>
                </a:solidFill>
                <a:latin typeface="Cambria"/>
                <a:cs typeface="Cambria"/>
              </a:rPr>
              <a:t>Priyanki</a:t>
            </a: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 Dutta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256" y="2655798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</a:t>
            </a:r>
            <a:r>
              <a:rPr lang="en-US" sz="1800" b="1" spc="-10" dirty="0">
                <a:latin typeface="Cambria"/>
                <a:cs typeface="Cambria"/>
              </a:rPr>
              <a:t>79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</a:t>
            </a:r>
            <a:r>
              <a:rPr lang="en-US" sz="1800" b="1" spc="-10" dirty="0">
                <a:latin typeface="Cambria"/>
                <a:cs typeface="Cambria"/>
              </a:rPr>
              <a:t>27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</a:t>
            </a:r>
            <a:r>
              <a:rPr lang="en-US" sz="1800" b="1" spc="-10" dirty="0">
                <a:latin typeface="Cambria"/>
                <a:cs typeface="Cambria"/>
              </a:rPr>
              <a:t>51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2339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302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Review-</a:t>
            </a:r>
            <a:r>
              <a:rPr sz="1800" spc="-50" dirty="0"/>
              <a:t>1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</a:t>
            </a:r>
            <a:r>
              <a:rPr lang="en-US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Shyam</a:t>
            </a:r>
            <a:endParaRPr lang="en-US" b="1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smtClean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smtClean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Ms.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Sumita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Guddin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A61EF-167F-E7D1-11EA-686DB2618E62}"/>
              </a:ext>
            </a:extLst>
          </p:cNvPr>
          <p:cNvSpPr txBox="1"/>
          <p:nvPr/>
        </p:nvSpPr>
        <p:spPr>
          <a:xfrm>
            <a:off x="3078126" y="2563956"/>
            <a:ext cx="2667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16365D"/>
                </a:solidFill>
                <a:latin typeface="Cambria"/>
                <a:cs typeface="Cambria"/>
              </a:rPr>
              <a:t>Student </a:t>
            </a:r>
            <a:r>
              <a:rPr lang="en-US" sz="1800" b="1" spc="-20" dirty="0">
                <a:solidFill>
                  <a:srgbClr val="16365D"/>
                </a:solidFill>
                <a:latin typeface="Cambria"/>
                <a:cs typeface="Cambria"/>
              </a:rPr>
              <a:t>Name   </a:t>
            </a:r>
            <a:endParaRPr lang="en-US" b="1" spc="-20" dirty="0">
              <a:solidFill>
                <a:srgbClr val="16365D"/>
              </a:solidFill>
              <a:latin typeface="Cambria"/>
              <a:cs typeface="Cambria"/>
            </a:endParaRPr>
          </a:p>
          <a:p>
            <a:pPr algn="l">
              <a:lnSpc>
                <a:spcPct val="150000"/>
              </a:lnSpc>
            </a:pPr>
            <a:r>
              <a:rPr lang="en-US" sz="1800" b="1" spc="-2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latin typeface="Cambria"/>
                <a:cs typeface="Cambria"/>
              </a:rPr>
              <a:t>Dhanaraj 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latin typeface="Cambria"/>
                <a:cs typeface="Cambria"/>
              </a:rPr>
              <a:t> Darshan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latin typeface="Cambria"/>
                <a:cs typeface="Cambria"/>
              </a:rPr>
              <a:t> </a:t>
            </a:r>
            <a:r>
              <a:rPr lang="en-US" sz="1800" b="1" dirty="0" err="1">
                <a:latin typeface="Cambria"/>
                <a:cs typeface="Cambria"/>
              </a:rPr>
              <a:t>Shivateja</a:t>
            </a:r>
            <a:endParaRPr lang="en-US" sz="1800" dirty="0">
              <a:latin typeface="Cambria"/>
              <a:cs typeface="Cambria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8478520" cy="4539704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Problem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Statement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/>
                <a:cs typeface="Cambria"/>
              </a:rPr>
              <a:t>Objectives</a:t>
            </a:r>
            <a:endParaRPr lang="en-US" sz="24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Analysis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Problem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Statement</a:t>
            </a:r>
            <a:r>
              <a:rPr lang="en-US" sz="2400" spc="-10" dirty="0">
                <a:latin typeface="Cambria"/>
                <a:cs typeface="Cambria"/>
              </a:rPr>
              <a:t>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IN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IN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IN" sz="2400" spc="-5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r>
              <a:rPr lang="en-US" sz="2400" spc="-7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of</a:t>
            </a:r>
            <a:r>
              <a:rPr lang="en-US" sz="2400" spc="-7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Problem</a:t>
            </a:r>
            <a:r>
              <a:rPr lang="en-US" sz="2400" spc="-7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  <a:r>
              <a:rPr lang="en-US" sz="2400" spc="-7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400" spc="-5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Hardware</a:t>
            </a:r>
            <a:r>
              <a:rPr lang="en-US" sz="2400" spc="-5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5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Innovation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Novel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Contributions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37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US" sz="1800" spc="-55" dirty="0">
                <a:latin typeface="Cambria"/>
                <a:cs typeface="Cambria"/>
              </a:rPr>
              <a:t>Rural Education Development Cell / EdTech for All</a:t>
            </a:r>
          </a:p>
          <a:p>
            <a:pPr marL="12700">
              <a:lnSpc>
                <a:spcPct val="2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  <a:r>
              <a:rPr lang="en-US" sz="1800" spc="-10" dirty="0">
                <a:latin typeface="Cambria"/>
                <a:cs typeface="Cambria"/>
              </a:rPr>
              <a:t> (Education Technology)</a:t>
            </a:r>
            <a:endParaRPr sz="1800" spc="-10" dirty="0">
              <a:latin typeface="Cambria"/>
              <a:cs typeface="Cambria"/>
            </a:endParaRPr>
          </a:p>
          <a:p>
            <a:pPr>
              <a:lnSpc>
                <a:spcPct val="200000"/>
              </a:lnSpc>
            </a:pPr>
            <a:r>
              <a:rPr sz="1800" b="1" dirty="0">
                <a:latin typeface="Cambria"/>
                <a:cs typeface="Cambria"/>
              </a:rPr>
              <a:t>Problem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Description:</a:t>
            </a:r>
            <a:r>
              <a:rPr sz="1800" b="1" spc="254" dirty="0">
                <a:latin typeface="Cambria"/>
                <a:cs typeface="Cambria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Rural students face significant educational disadvantages including limited access to engaging resources, high dropout rates due to lack of motivation, and a shortage of qualified educators in remote areas.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Traditional e-learning platforms often fail in these regions because they require high-speed internet and high-end devices, which are unavailable to underprivileged families. Furthermore, current curriculum delivery is often one-directional and fails to engage students emotionally or foster a "love for learning".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10511790" cy="42138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l">
              <a:lnSpc>
                <a:spcPct val="250000"/>
              </a:lnSpc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Develop an Offline-First Gamified Architecture: </a:t>
            </a:r>
          </a:p>
          <a:p>
            <a:pPr algn="l">
              <a:lnSpc>
                <a:spcPct val="2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a platform that functions without constant internet, using local caching or "School-in-a-Box" local servers (e.g., Raspberry Pi).</a:t>
            </a:r>
          </a:p>
          <a:p>
            <a:pPr marL="223520" indent="-210820" algn="l">
              <a:lnSpc>
                <a:spcPct val="250000"/>
              </a:lnSpc>
              <a:buAutoNum type="arabicPeriod" startAt="2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Integrate Core Gamification Elements:</a:t>
            </a:r>
          </a:p>
          <a:p>
            <a:pPr marL="12700" algn="l">
              <a:lnSpc>
                <a:spcPct val="250000"/>
              </a:lnSpc>
              <a:tabLst>
                <a:tab pos="22352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points, badges, and leaderboards (PBL) to boost engagement and academic competition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3520" indent="-210820" algn="l">
              <a:lnSpc>
                <a:spcPct val="250000"/>
              </a:lnSpc>
              <a:buAutoNum type="arabicPeriod" startAt="3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Enable Adaptive &amp; Personalized Learning: </a:t>
            </a:r>
          </a:p>
          <a:p>
            <a:pPr marL="12700" algn="l">
              <a:lnSpc>
                <a:spcPct val="250000"/>
              </a:lnSpc>
              <a:tabLst>
                <a:tab pos="22352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Build an engine that adjusts difficulty in real-time based on student performance, preventing boredom and frustration.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2982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algn="l">
              <a:lnSpc>
                <a:spcPct val="2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 Incorporate Local Languages &amp; Culture: </a:t>
            </a:r>
          </a:p>
          <a:p>
            <a:pPr marL="190500" algn="l">
              <a:lnSpc>
                <a:spcPct val="2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Support multilingual content and integrate traditional rural games or narratives to preserve cultural identity while learning.</a:t>
            </a:r>
          </a:p>
          <a:p>
            <a:pPr marL="190500" algn="l">
              <a:lnSpc>
                <a:spcPct val="2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5. Provide Teacher &amp; Parent Analytics: </a:t>
            </a:r>
          </a:p>
          <a:p>
            <a:pPr marL="190500" algn="l">
              <a:lnSpc>
                <a:spcPct val="2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Create simple dashboards for monitoring progress, allowing local facilitators to intervene effectively.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995045" y="1143000"/>
            <a:ext cx="8389620" cy="47596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10" dirty="0">
                <a:latin typeface="Cambria"/>
                <a:cs typeface="Cambria"/>
              </a:rPr>
              <a:t> Frontend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700" b="1" dirty="0">
                <a:latin typeface="Cambria"/>
                <a:cs typeface="Cambria"/>
              </a:rPr>
              <a:t>React.js: </a:t>
            </a:r>
            <a:r>
              <a:rPr lang="en-US" sz="1700" dirty="0">
                <a:latin typeface="Cambria"/>
                <a:cs typeface="Cambria"/>
              </a:rPr>
              <a:t>For building a dynamic, responsive, and component-based user interface that supports interactive gamification elements.</a:t>
            </a:r>
          </a:p>
          <a:p>
            <a:pPr marL="29845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700" b="1" dirty="0">
                <a:latin typeface="Cambria"/>
                <a:cs typeface="Cambria"/>
              </a:rPr>
              <a:t>Tailwind CSS / Bootstrap: </a:t>
            </a:r>
            <a:r>
              <a:rPr lang="en-US" sz="1700" dirty="0">
                <a:latin typeface="Cambria"/>
                <a:cs typeface="Cambria"/>
              </a:rPr>
              <a:t>For rapid UI styling and ensuring the platform is mobile-responsive for rural users.</a:t>
            </a:r>
          </a:p>
          <a:p>
            <a:pPr marL="298450" indent="-28575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700" b="1" dirty="0">
                <a:latin typeface="Cambria"/>
                <a:cs typeface="Cambria"/>
              </a:rPr>
              <a:t>Redux / Context API: </a:t>
            </a:r>
            <a:r>
              <a:rPr lang="en-US" sz="1700" dirty="0">
                <a:latin typeface="Cambria"/>
                <a:cs typeface="Cambria"/>
              </a:rPr>
              <a:t>To manage the state of game points, levels, and user progress.</a:t>
            </a:r>
            <a:endParaRPr sz="1700" dirty="0">
              <a:latin typeface="Cambria"/>
              <a:cs typeface="Cambria"/>
            </a:endParaRPr>
          </a:p>
          <a:p>
            <a:pPr marL="12700">
              <a:spcBef>
                <a:spcPts val="5"/>
              </a:spcBef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Backend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US" sz="1700" b="1" dirty="0">
                <a:latin typeface="Cambria"/>
                <a:cs typeface="Cambria"/>
              </a:rPr>
              <a:t>Node.js &amp; Express.js: </a:t>
            </a:r>
            <a:r>
              <a:rPr lang="en-US" sz="1700" dirty="0">
                <a:latin typeface="Cambria"/>
                <a:cs typeface="Cambria"/>
              </a:rPr>
              <a:t>To handle API requests, user authentication, and game logic processing.</a:t>
            </a:r>
            <a:endParaRPr sz="1700" dirty="0">
              <a:latin typeface="Cambria"/>
              <a:cs typeface="Cambria"/>
            </a:endParaRPr>
          </a:p>
          <a:p>
            <a:pPr marL="12700"/>
            <a:r>
              <a:rPr lang="en-US" sz="1700" b="1" spc="-10" dirty="0">
                <a:latin typeface="Cambria"/>
                <a:cs typeface="Cambria"/>
              </a:rPr>
              <a:t>3</a:t>
            </a:r>
            <a:r>
              <a:rPr sz="1700" b="1" spc="-10" dirty="0">
                <a:latin typeface="Cambria"/>
                <a:cs typeface="Cambria"/>
              </a:rPr>
              <a:t> Database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MongoDB: 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 NoSQL database used to store flexible document structures like student profiles, lesson content, and achievement data.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/>
            <a:r>
              <a:rPr lang="en-US" sz="1700" b="1" spc="-40" dirty="0">
                <a:latin typeface="Cambria"/>
                <a:cs typeface="Cambria"/>
              </a:rPr>
              <a:t>4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Tools:</a:t>
            </a:r>
            <a:endParaRPr lang="en-US" sz="1700" b="1" spc="-10" dirty="0">
              <a:latin typeface="Cambria"/>
              <a:cs typeface="Cambria"/>
            </a:endParaRP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mbria"/>
                <a:cs typeface="Cambria"/>
              </a:rPr>
              <a:t>VS Code &amp; Git: </a:t>
            </a:r>
            <a:r>
              <a:rPr lang="en-US" sz="1700" dirty="0">
                <a:latin typeface="Cambria"/>
                <a:cs typeface="Cambria"/>
              </a:rPr>
              <a:t>For code editing and version control.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Cambria"/>
                <a:cs typeface="Cambria"/>
              </a:rPr>
              <a:t>Postman: </a:t>
            </a:r>
            <a:r>
              <a:rPr lang="en-US" sz="1700" dirty="0">
                <a:latin typeface="Cambria"/>
                <a:cs typeface="Cambria"/>
              </a:rPr>
              <a:t>For testing API endpoints between the React frontend and Node backend.</a:t>
            </a:r>
          </a:p>
          <a:p>
            <a:pPr marL="57150"/>
            <a:r>
              <a:rPr lang="en-US" sz="1700" b="1" dirty="0">
                <a:latin typeface="Cambria"/>
                <a:cs typeface="Cambria"/>
              </a:rPr>
              <a:t>5 PWA (Progressive Web App) Tech: 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mbria"/>
                <a:cs typeface="Cambria"/>
              </a:rPr>
              <a:t>Utilizing Service Workers to allow the React app to be "installed" on mobile devices and function offline.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3521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lang="en-US" sz="1700" b="1" dirty="0">
                <a:latin typeface="Cambria"/>
                <a:cs typeface="Cambria"/>
              </a:rPr>
              <a:t>Student Device: </a:t>
            </a: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en-US" sz="1700" b="1" dirty="0">
                <a:latin typeface="Cambria"/>
                <a:cs typeface="Cambria"/>
              </a:rPr>
              <a:t>            </a:t>
            </a:r>
            <a:r>
              <a:rPr lang="en-US" sz="1700" dirty="0">
                <a:latin typeface="Cambria"/>
                <a:cs typeface="Cambria"/>
              </a:rPr>
              <a:t>Low-cost Android tablets or budget smartphones with 2GB+ RAM.</a:t>
            </a: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50000"/>
              </a:lnSpc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lang="en-US" sz="1700" b="1" spc="-10" dirty="0">
                <a:latin typeface="Cambria"/>
                <a:cs typeface="Cambria"/>
              </a:rPr>
              <a:t>Local Server (Optional): </a:t>
            </a:r>
          </a:p>
          <a:p>
            <a:pPr marL="12700">
              <a:lnSpc>
                <a:spcPct val="150000"/>
              </a:lnSpc>
            </a:pPr>
            <a:r>
              <a:rPr lang="en-US" sz="1700" b="1" spc="-10" dirty="0">
                <a:latin typeface="Cambria"/>
                <a:cs typeface="Cambria"/>
              </a:rPr>
              <a:t>            </a:t>
            </a:r>
            <a:r>
              <a:rPr lang="en-US" sz="1700" spc="-10" dirty="0">
                <a:latin typeface="Cambria"/>
                <a:cs typeface="Cambria"/>
              </a:rPr>
              <a:t>Raspberry Pi or similar low-power device to host content for a classroom via local Wi-Fi.</a:t>
            </a:r>
          </a:p>
          <a:p>
            <a:pPr marL="12700">
              <a:lnSpc>
                <a:spcPct val="150000"/>
              </a:lnSpc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5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290" dirty="0">
                <a:latin typeface="Cambria"/>
                <a:cs typeface="Cambria"/>
              </a:rPr>
              <a:t> </a:t>
            </a:r>
            <a:r>
              <a:rPr lang="en-US" sz="1700" b="1" dirty="0">
                <a:latin typeface="Cambria"/>
                <a:cs typeface="Cambria"/>
              </a:rPr>
              <a:t>Energy: </a:t>
            </a:r>
          </a:p>
          <a:p>
            <a:pPr marL="12700">
              <a:lnSpc>
                <a:spcPct val="150000"/>
              </a:lnSpc>
            </a:pPr>
            <a:r>
              <a:rPr lang="en-US" sz="1700" b="1" dirty="0">
                <a:latin typeface="Cambria"/>
                <a:cs typeface="Cambria"/>
              </a:rPr>
              <a:t>            </a:t>
            </a:r>
            <a:r>
              <a:rPr lang="en-US" sz="1700" dirty="0">
                <a:latin typeface="Cambria"/>
                <a:cs typeface="Cambria"/>
              </a:rPr>
              <a:t>Solar-powered charging stations or battery backups (recommended for areas with frequent power cuts).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46392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Hybrid Offline-Sync Model: </a:t>
            </a: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Students can learn entirely offline, and their progress/leaderboard data syncs automatically only when a connection is briefly available.</a:t>
            </a: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Narrative-Driven Curriculum:</a:t>
            </a:r>
          </a:p>
          <a:p>
            <a:pPr marL="298450" indent="-285750">
              <a:lnSpc>
                <a:spcPct val="10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Instead of dry lessons, subjects like Math or Science are presented as "adventures" or "missions" where solving problems unlocks the next story chapter.</a:t>
            </a: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Cultural Contextualization: </a:t>
            </a:r>
          </a:p>
          <a:p>
            <a:pPr marL="298450" indent="-285750">
              <a:lnSpc>
                <a:spcPct val="10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Using local folklore and traditional rural games as the basis for gamified mechanics to increase relatability.</a:t>
            </a:r>
            <a:endParaRPr lang="e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50000"/>
              </a:lnSpc>
              <a:spcBef>
                <a:spcPts val="1340"/>
              </a:spcBef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4. Low-Resource Optimization:</a:t>
            </a: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platform is engineered to be extremely lightweight, ensuring high performance even on older, second-hand devices common in rural areas.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675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Cambria</vt:lpstr>
      <vt:lpstr>Verdana</vt:lpstr>
      <vt:lpstr>Office Theme</vt:lpstr>
      <vt:lpstr>CSE7302- University Project Review-1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dhanaraj dhammure</cp:lastModifiedBy>
  <cp:revision>6</cp:revision>
  <dcterms:created xsi:type="dcterms:W3CDTF">2025-08-10T14:24:47Z</dcterms:created>
  <dcterms:modified xsi:type="dcterms:W3CDTF">2026-05-12T18:44:52Z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